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libri (MS) Bold" charset="1" panose="020F0702030404030204"/>
      <p:regular r:id="rId36"/>
    </p:embeddedFont>
    <p:embeddedFont>
      <p:font typeface="Calibri (MS)" charset="1" panose="020F0502020204030204"/>
      <p:regular r:id="rId37"/>
    </p:embeddedFont>
    <p:embeddedFont>
      <p:font typeface="Calibri (MS) Italics" charset="1" panose="020F05020202040A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3.xml" Type="http://schemas.openxmlformats.org/officeDocument/2006/relationships/notesSlide"/><Relationship Id="rId61" Target="notesSlides/notesSlide24.xml" Type="http://schemas.openxmlformats.org/officeDocument/2006/relationships/notesSlide"/><Relationship Id="rId62" Target="notesSlides/notesSlide25.xml" Type="http://schemas.openxmlformats.org/officeDocument/2006/relationships/notesSlide"/><Relationship Id="rId63" Target="notesSlides/notesSlide26.xml" Type="http://schemas.openxmlformats.org/officeDocument/2006/relationships/notesSlide"/><Relationship Id="rId64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6759" y="-12697"/>
            <a:ext cx="18093947" cy="1671323"/>
            <a:chOff x="0" y="0"/>
            <a:chExt cx="24125263" cy="2228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091392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091392">
                  <a:moveTo>
                    <a:pt x="0" y="0"/>
                  </a:moveTo>
                  <a:lnTo>
                    <a:pt x="24091392" y="0"/>
                  </a:lnTo>
                  <a:lnTo>
                    <a:pt x="2409139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25174" cy="2228342"/>
            </a:xfrm>
            <a:custGeom>
              <a:avLst/>
              <a:gdLst/>
              <a:ahLst/>
              <a:cxnLst/>
              <a:rect r="r" b="b" t="t" l="l"/>
              <a:pathLst>
                <a:path h="2228342" w="24125174">
                  <a:moveTo>
                    <a:pt x="16891" y="0"/>
                  </a:moveTo>
                  <a:lnTo>
                    <a:pt x="24108283" y="0"/>
                  </a:lnTo>
                  <a:cubicBezTo>
                    <a:pt x="24117681" y="0"/>
                    <a:pt x="24125174" y="7620"/>
                    <a:pt x="24125174" y="16891"/>
                  </a:cubicBezTo>
                  <a:lnTo>
                    <a:pt x="24125174" y="2211451"/>
                  </a:lnTo>
                  <a:cubicBezTo>
                    <a:pt x="24125174" y="2220849"/>
                    <a:pt x="24117554" y="2228342"/>
                    <a:pt x="24108283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4108283" y="2194560"/>
                  </a:lnTo>
                  <a:lnTo>
                    <a:pt x="24108283" y="2211451"/>
                  </a:lnTo>
                  <a:lnTo>
                    <a:pt x="24091393" y="2211451"/>
                  </a:lnTo>
                  <a:lnTo>
                    <a:pt x="24091393" y="16891"/>
                  </a:lnTo>
                  <a:lnTo>
                    <a:pt x="24108283" y="16891"/>
                  </a:lnTo>
                  <a:lnTo>
                    <a:pt x="24108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1440"/>
            <a:ext cx="16824960" cy="1463040"/>
            <a:chOff x="0" y="0"/>
            <a:chExt cx="2243328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332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UNIVERSITY OF AGRICULTURAL SCIENCES, COA GKVK, BANGALORE – 560065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03303" y="1998983"/>
            <a:ext cx="4048763" cy="939803"/>
            <a:chOff x="0" y="0"/>
            <a:chExt cx="5398351" cy="1253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236091"/>
                  </a:lnTo>
                  <a:cubicBezTo>
                    <a:pt x="5398262" y="1245489"/>
                    <a:pt x="5390642" y="1252982"/>
                    <a:pt x="538137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381371" y="1219200"/>
                  </a:lnTo>
                  <a:lnTo>
                    <a:pt x="5381371" y="1236091"/>
                  </a:lnTo>
                  <a:lnTo>
                    <a:pt x="5364480" y="12360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0" y="2011680"/>
            <a:ext cx="4023360" cy="914400"/>
            <a:chOff x="0" y="0"/>
            <a:chExt cx="536448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EfficientNet-B3 Powered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920240"/>
            <a:ext cx="12435840" cy="1645920"/>
            <a:chOff x="0" y="0"/>
            <a:chExt cx="1658112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65811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Silkworm Disease Detection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474720"/>
            <a:ext cx="12435840" cy="1188720"/>
            <a:chOff x="0" y="0"/>
            <a:chExt cx="1658112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843" r="0" b="-1538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1658112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Using Artificial Intelligence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572000"/>
            <a:ext cx="12435840" cy="1188720"/>
            <a:chOff x="0" y="0"/>
            <a:chExt cx="1658112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81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843" r="0" b="-1538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1658112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 Machine Learning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5876039"/>
            <a:ext cx="6426203" cy="720347"/>
            <a:chOff x="0" y="0"/>
            <a:chExt cx="856827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68182" cy="960376"/>
            </a:xfrm>
            <a:custGeom>
              <a:avLst/>
              <a:gdLst/>
              <a:ahLst/>
              <a:cxnLst/>
              <a:rect r="r" b="b" t="t" l="l"/>
              <a:pathLst>
                <a:path h="96037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943483"/>
                  </a:lnTo>
                  <a:cubicBezTo>
                    <a:pt x="8568182" y="952881"/>
                    <a:pt x="8560562" y="960374"/>
                    <a:pt x="85512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8551291" y="926592"/>
                  </a:lnTo>
                  <a:lnTo>
                    <a:pt x="8551291" y="943483"/>
                  </a:lnTo>
                  <a:lnTo>
                    <a:pt x="8534400" y="94348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888736"/>
            <a:ext cx="6400800" cy="694944"/>
            <a:chOff x="0" y="0"/>
            <a:chExt cx="853440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EAI421 – Application of AI &amp; ML in Agriculture (0+10)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6803136"/>
            <a:ext cx="16093440" cy="640080"/>
            <a:chOff x="0" y="0"/>
            <a:chExt cx="214579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Submitted by:  </a:t>
              </a: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DIKSHA [AMB2065]  |  Manasa  M [AMB2130]   I  MAHESH PATIL [AMB2124]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406640"/>
            <a:ext cx="16093440" cy="640080"/>
            <a:chOff x="0" y="0"/>
            <a:chExt cx="2145792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IV Year B.Sc (Hons.) Agriculture  |  Guided by: </a:t>
              </a: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D R Kumar Raja - Reva University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37543" y="3096263"/>
            <a:ext cx="4414523" cy="6060443"/>
            <a:chOff x="0" y="0"/>
            <a:chExt cx="5886031" cy="80805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852160" cy="8046720"/>
            </a:xfrm>
            <a:custGeom>
              <a:avLst/>
              <a:gdLst/>
              <a:ahLst/>
              <a:cxnLst/>
              <a:rect r="r" b="b" t="t" l="l"/>
              <a:pathLst>
                <a:path h="80467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4A3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85942" cy="8080501"/>
            </a:xfrm>
            <a:custGeom>
              <a:avLst/>
              <a:gdLst/>
              <a:ahLst/>
              <a:cxnLst/>
              <a:rect r="r" b="b" t="t" l="l"/>
              <a:pathLst>
                <a:path h="8080501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8063611"/>
                  </a:lnTo>
                  <a:cubicBezTo>
                    <a:pt x="5885942" y="8073009"/>
                    <a:pt x="5878322" y="8080501"/>
                    <a:pt x="5869051" y="8080501"/>
                  </a:cubicBezTo>
                  <a:lnTo>
                    <a:pt x="16891" y="8080501"/>
                  </a:lnTo>
                  <a:cubicBezTo>
                    <a:pt x="7493" y="8080501"/>
                    <a:pt x="0" y="8072882"/>
                    <a:pt x="0" y="806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3611"/>
                  </a:lnTo>
                  <a:lnTo>
                    <a:pt x="16891" y="8063611"/>
                  </a:lnTo>
                  <a:lnTo>
                    <a:pt x="16891" y="8046720"/>
                  </a:lnTo>
                  <a:lnTo>
                    <a:pt x="5869051" y="8046720"/>
                  </a:lnTo>
                  <a:lnTo>
                    <a:pt x="5869051" y="8063611"/>
                  </a:lnTo>
                  <a:lnTo>
                    <a:pt x="5852160" y="806361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350240" y="3657600"/>
            <a:ext cx="5032858" cy="3145536"/>
            <a:chOff x="0" y="0"/>
            <a:chExt cx="5852160" cy="3657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21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57175"/>
              <a:ext cx="5852160" cy="3914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0"/>
                </a:lnSpc>
              </a:pPr>
              <a:r>
                <a:rPr lang="en-US" sz="12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🐛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50240" y="6400800"/>
            <a:ext cx="4389120" cy="2377440"/>
            <a:chOff x="0" y="0"/>
            <a:chExt cx="5852160" cy="3169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8521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Disease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8138160"/>
            <a:ext cx="10972800" cy="548640"/>
            <a:chOff x="0" y="0"/>
            <a:chExt cx="146304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Academic Year: 2025–2026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of Contents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Overview of Presentation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18439"/>
            <a:ext cx="8255003" cy="1086107"/>
            <a:chOff x="0" y="0"/>
            <a:chExt cx="11006671" cy="1448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18439"/>
            <a:ext cx="1031243" cy="1086107"/>
            <a:chOff x="0" y="0"/>
            <a:chExt cx="1374991" cy="14481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231136"/>
            <a:ext cx="1005840" cy="1060704"/>
            <a:chOff x="0" y="0"/>
            <a:chExt cx="134112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240" y="2231136"/>
            <a:ext cx="6858000" cy="1060704"/>
            <a:chOff x="0" y="0"/>
            <a:chExt cx="914400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&amp; Overview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3571751"/>
            <a:ext cx="8255003" cy="1086107"/>
            <a:chOff x="0" y="0"/>
            <a:chExt cx="11006671" cy="14481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8823" y="3571751"/>
            <a:ext cx="1031243" cy="1086107"/>
            <a:chOff x="0" y="0"/>
            <a:chExt cx="1374991" cy="14481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584448"/>
            <a:ext cx="1005840" cy="1060704"/>
            <a:chOff x="0" y="0"/>
            <a:chExt cx="1341120" cy="14142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20240" y="3584448"/>
            <a:ext cx="6858000" cy="1060704"/>
            <a:chOff x="0" y="0"/>
            <a:chExt cx="91440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&amp; Existing System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4925063"/>
            <a:ext cx="8255003" cy="1086107"/>
            <a:chOff x="0" y="0"/>
            <a:chExt cx="11006671" cy="14481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4925063"/>
            <a:ext cx="1031243" cy="1086107"/>
            <a:chOff x="0" y="0"/>
            <a:chExt cx="1374991" cy="14481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31520" y="4937760"/>
            <a:ext cx="1005840" cy="1060704"/>
            <a:chOff x="0" y="0"/>
            <a:chExt cx="134112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0240" y="4937760"/>
            <a:ext cx="6858000" cy="1060704"/>
            <a:chOff x="0" y="0"/>
            <a:chExt cx="9144000" cy="14142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Proposed System (Silk Shield)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6278375"/>
            <a:ext cx="8255003" cy="1086107"/>
            <a:chOff x="0" y="0"/>
            <a:chExt cx="11006671" cy="14481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6278375"/>
            <a:ext cx="1031243" cy="1086107"/>
            <a:chOff x="0" y="0"/>
            <a:chExt cx="1374991" cy="144814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1520" y="6291072"/>
            <a:ext cx="1005840" cy="1060704"/>
            <a:chOff x="0" y="0"/>
            <a:chExt cx="1341120" cy="14142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20240" y="6291072"/>
            <a:ext cx="6858000" cy="1060704"/>
            <a:chOff x="0" y="0"/>
            <a:chExt cx="914400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Diseases – An Overview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631687"/>
            <a:ext cx="8255003" cy="1086107"/>
            <a:chOff x="0" y="0"/>
            <a:chExt cx="11006671" cy="14481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631687"/>
            <a:ext cx="1031243" cy="1086107"/>
            <a:chOff x="0" y="0"/>
            <a:chExt cx="1374991" cy="144814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7644384"/>
            <a:ext cx="1005840" cy="1060704"/>
            <a:chOff x="0" y="0"/>
            <a:chExt cx="1341120" cy="14142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20240" y="7644384"/>
            <a:ext cx="6858000" cy="1060704"/>
            <a:chOff x="0" y="0"/>
            <a:chExt cx="9144000" cy="14142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Architecture &amp; Methodology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97063" y="2218439"/>
            <a:ext cx="8255003" cy="1086107"/>
            <a:chOff x="0" y="0"/>
            <a:chExt cx="11006671" cy="14481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97063" y="2218439"/>
            <a:ext cx="1031243" cy="1086107"/>
            <a:chOff x="0" y="0"/>
            <a:chExt cx="1374991" cy="144814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09760" y="2231136"/>
            <a:ext cx="1005840" cy="1060704"/>
            <a:chOff x="0" y="0"/>
            <a:chExt cx="1341120" cy="14142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98480" y="2231136"/>
            <a:ext cx="6858000" cy="1060704"/>
            <a:chOff x="0" y="0"/>
            <a:chExt cx="9144000" cy="14142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Literature Survey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97063" y="3571751"/>
            <a:ext cx="8255003" cy="1086107"/>
            <a:chOff x="0" y="0"/>
            <a:chExt cx="11006671" cy="14481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497063" y="3571751"/>
            <a:ext cx="1031243" cy="1086107"/>
            <a:chOff x="0" y="0"/>
            <a:chExt cx="1374991" cy="144814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09760" y="3584448"/>
            <a:ext cx="1005840" cy="1060704"/>
            <a:chOff x="0" y="0"/>
            <a:chExt cx="1341120" cy="14142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698480" y="3584448"/>
            <a:ext cx="6858000" cy="1060704"/>
            <a:chOff x="0" y="0"/>
            <a:chExt cx="9144000" cy="14142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Requirements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97063" y="4925063"/>
            <a:ext cx="8255003" cy="1086107"/>
            <a:chOff x="0" y="0"/>
            <a:chExt cx="11006671" cy="144814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97063" y="4925063"/>
            <a:ext cx="1031243" cy="1086107"/>
            <a:chOff x="0" y="0"/>
            <a:chExt cx="1374991" cy="144814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9760" y="4937760"/>
            <a:ext cx="1005840" cy="1060704"/>
            <a:chOff x="0" y="0"/>
            <a:chExt cx="1341120" cy="141427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698480" y="4937760"/>
            <a:ext cx="6858000" cy="1060704"/>
            <a:chOff x="0" y="0"/>
            <a:chExt cx="9144000" cy="14142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 Phases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97063" y="6278375"/>
            <a:ext cx="8255003" cy="1086107"/>
            <a:chOff x="0" y="0"/>
            <a:chExt cx="11006671" cy="14481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97063" y="6278375"/>
            <a:ext cx="1031243" cy="1086107"/>
            <a:chOff x="0" y="0"/>
            <a:chExt cx="1374991" cy="144814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509760" y="6291072"/>
            <a:ext cx="1005840" cy="1060704"/>
            <a:chOff x="0" y="0"/>
            <a:chExt cx="1341120" cy="141427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698480" y="6291072"/>
            <a:ext cx="6858000" cy="1060704"/>
            <a:chOff x="0" y="0"/>
            <a:chExt cx="9144000" cy="14142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Testing &amp; Results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7631687"/>
            <a:ext cx="8255003" cy="1086107"/>
            <a:chOff x="0" y="0"/>
            <a:chExt cx="11006671" cy="144814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00658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31163"/>
                  </a:lnTo>
                  <a:cubicBezTo>
                    <a:pt x="11006582" y="1440561"/>
                    <a:pt x="10998962" y="1448054"/>
                    <a:pt x="1098969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989691" y="1414272"/>
                  </a:lnTo>
                  <a:lnTo>
                    <a:pt x="10989691" y="1431163"/>
                  </a:lnTo>
                  <a:lnTo>
                    <a:pt x="10972800" y="143116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97063" y="7631687"/>
            <a:ext cx="1031243" cy="1086107"/>
            <a:chOff x="0" y="0"/>
            <a:chExt cx="1374991" cy="144814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74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431163"/>
                  </a:lnTo>
                  <a:cubicBezTo>
                    <a:pt x="1374902" y="1440561"/>
                    <a:pt x="1367282" y="1448054"/>
                    <a:pt x="135801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358011" y="1414272"/>
                  </a:lnTo>
                  <a:lnTo>
                    <a:pt x="1358011" y="1431163"/>
                  </a:lnTo>
                  <a:lnTo>
                    <a:pt x="1341120" y="143116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509760" y="7644384"/>
            <a:ext cx="1005840" cy="1060704"/>
            <a:chOff x="0" y="0"/>
            <a:chExt cx="1341120" cy="141427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4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301" t="0" r="-8530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66675"/>
              <a:ext cx="134112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698480" y="7644384"/>
            <a:ext cx="6858000" cy="1060704"/>
            <a:chOff x="0" y="0"/>
            <a:chExt cx="9144000" cy="141427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144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0" r="0" b="-7598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91440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&amp; Future Scope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– Sericulture &amp; Challenges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AI in Silk Production?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181863"/>
            <a:ext cx="9900923" cy="7249163"/>
            <a:chOff x="0" y="0"/>
            <a:chExt cx="13201231" cy="9665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167360" cy="9631681"/>
            </a:xfrm>
            <a:custGeom>
              <a:avLst/>
              <a:gdLst/>
              <a:ahLst/>
              <a:cxnLst/>
              <a:rect r="r" b="b" t="t" l="l"/>
              <a:pathLst>
                <a:path h="9631681" w="13167360">
                  <a:moveTo>
                    <a:pt x="0" y="0"/>
                  </a:moveTo>
                  <a:lnTo>
                    <a:pt x="13167360" y="0"/>
                  </a:lnTo>
                  <a:lnTo>
                    <a:pt x="131673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01143" cy="9665462"/>
            </a:xfrm>
            <a:custGeom>
              <a:avLst/>
              <a:gdLst/>
              <a:ahLst/>
              <a:cxnLst/>
              <a:rect r="r" b="b" t="t" l="l"/>
              <a:pathLst>
                <a:path h="9665462" w="13201143">
                  <a:moveTo>
                    <a:pt x="16891" y="0"/>
                  </a:moveTo>
                  <a:lnTo>
                    <a:pt x="13184251" y="0"/>
                  </a:lnTo>
                  <a:cubicBezTo>
                    <a:pt x="13193649" y="0"/>
                    <a:pt x="13201143" y="7620"/>
                    <a:pt x="13201143" y="16891"/>
                  </a:cubicBezTo>
                  <a:lnTo>
                    <a:pt x="13201143" y="9648572"/>
                  </a:lnTo>
                  <a:cubicBezTo>
                    <a:pt x="13201143" y="9657969"/>
                    <a:pt x="13193523" y="9665462"/>
                    <a:pt x="131842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3184251" y="9631680"/>
                  </a:lnTo>
                  <a:lnTo>
                    <a:pt x="13184251" y="9648572"/>
                  </a:lnTo>
                  <a:lnTo>
                    <a:pt x="13167361" y="9648572"/>
                  </a:lnTo>
                  <a:lnTo>
                    <a:pt x="13167361" y="16891"/>
                  </a:lnTo>
                  <a:lnTo>
                    <a:pt x="13184251" y="16891"/>
                  </a:lnTo>
                  <a:lnTo>
                    <a:pt x="13184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377440"/>
            <a:ext cx="9144000" cy="822960"/>
            <a:chOff x="0" y="0"/>
            <a:chExt cx="121920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192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Sericulture?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8720" y="3243834"/>
            <a:ext cx="8961120" cy="581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Sericulture is the cultivation of silkworms for silk production — a key agro-industry supporting rural &amp; urban economies worldwide.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Silkworm diseases spread rapidly, destroying entire batches and causing severe economic losses.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detection methods rely on manual inspection — slow, error-prone, and often too late to prevent outbreaks.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AI &amp; Deep Learning can revolutionize this process through fast, accurate, real-time image-based diagnosis.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42983" y="2218439"/>
            <a:ext cx="6609083" cy="2128523"/>
            <a:chOff x="0" y="0"/>
            <a:chExt cx="881211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0" y="2322576"/>
            <a:ext cx="6400800" cy="548640"/>
            <a:chOff x="0" y="0"/>
            <a:chExt cx="8534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534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India's Share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47120" y="2816352"/>
            <a:ext cx="6400800" cy="914400"/>
            <a:chOff x="0" y="0"/>
            <a:chExt cx="85344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853440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~77%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47120" y="3694176"/>
            <a:ext cx="6400800" cy="512064"/>
            <a:chOff x="0" y="0"/>
            <a:chExt cx="853440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Global Silk Production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42983" y="4632455"/>
            <a:ext cx="6609083" cy="2128523"/>
            <a:chOff x="0" y="0"/>
            <a:chExt cx="8812111" cy="28380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0" y="4736592"/>
            <a:ext cx="6400800" cy="548640"/>
            <a:chOff x="0" y="0"/>
            <a:chExt cx="85344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534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 Impact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247120" y="5230368"/>
            <a:ext cx="6400800" cy="914400"/>
            <a:chOff x="0" y="0"/>
            <a:chExt cx="85344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853440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₹Crores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247120" y="6108192"/>
            <a:ext cx="6400800" cy="512064"/>
            <a:chOff x="0" y="0"/>
            <a:chExt cx="853440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Lost Annually to Diseases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142983" y="7046471"/>
            <a:ext cx="6609083" cy="2128523"/>
            <a:chOff x="0" y="0"/>
            <a:chExt cx="8812111" cy="28380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247120" y="7150608"/>
            <a:ext cx="6400800" cy="548640"/>
            <a:chOff x="0" y="0"/>
            <a:chExt cx="853440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534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Accuracy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47120" y="7644384"/>
            <a:ext cx="6400800" cy="914400"/>
            <a:chOff x="0" y="0"/>
            <a:chExt cx="85344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23825"/>
              <a:ext cx="853440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96–98%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247120" y="8522208"/>
            <a:ext cx="6400800" cy="512064"/>
            <a:chOff x="0" y="0"/>
            <a:chExt cx="853440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Disease Detection Rate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Major Silkworm Diseases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the Threats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3957323" cy="7249163"/>
            <a:chOff x="0" y="0"/>
            <a:chExt cx="5276431" cy="9665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24256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7634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3957323" cy="1305563"/>
            <a:chOff x="0" y="0"/>
            <a:chExt cx="5276431" cy="1740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7634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723771"/>
                  </a:lnTo>
                  <a:cubicBezTo>
                    <a:pt x="5276342" y="1733169"/>
                    <a:pt x="5268722" y="1740662"/>
                    <a:pt x="525945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259451" y="1706880"/>
                  </a:lnTo>
                  <a:lnTo>
                    <a:pt x="5259451" y="1723771"/>
                  </a:lnTo>
                  <a:lnTo>
                    <a:pt x="5242560" y="17237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231136"/>
            <a:ext cx="3931920" cy="1188720"/>
            <a:chOff x="0" y="0"/>
            <a:chExt cx="524256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524256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🦠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6384" y="3566160"/>
            <a:ext cx="3657600" cy="768096"/>
            <a:chOff x="0" y="0"/>
            <a:chExt cx="487680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Grasserie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8903" y="4412999"/>
            <a:ext cx="2494283" cy="537467"/>
            <a:chOff x="0" y="0"/>
            <a:chExt cx="3325711" cy="7166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25622" cy="716536"/>
            </a:xfrm>
            <a:custGeom>
              <a:avLst/>
              <a:gdLst/>
              <a:ahLst/>
              <a:cxnLst/>
              <a:rect r="r" b="b" t="t" l="l"/>
              <a:pathLst>
                <a:path h="716536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699643"/>
                  </a:lnTo>
                  <a:cubicBezTo>
                    <a:pt x="3325622" y="709041"/>
                    <a:pt x="3318002" y="716534"/>
                    <a:pt x="33087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308731" y="682752"/>
                  </a:lnTo>
                  <a:lnTo>
                    <a:pt x="3308731" y="699643"/>
                  </a:lnTo>
                  <a:lnTo>
                    <a:pt x="3291840" y="699643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4425696"/>
            <a:ext cx="2468880" cy="512064"/>
            <a:chOff x="0" y="0"/>
            <a:chExt cx="32918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Viral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5082159"/>
            <a:ext cx="3383280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Inter-segmental swelling, yellowish body. Larval body ruptures. Haemolymph oozes out.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925063" y="2181863"/>
            <a:ext cx="3957323" cy="7249163"/>
            <a:chOff x="0" y="0"/>
            <a:chExt cx="5276431" cy="96655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524256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7634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925063" y="2181863"/>
            <a:ext cx="3957323" cy="1305563"/>
            <a:chOff x="0" y="0"/>
            <a:chExt cx="5276431" cy="17407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B8A72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7634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723771"/>
                  </a:lnTo>
                  <a:cubicBezTo>
                    <a:pt x="5276342" y="1733169"/>
                    <a:pt x="5268722" y="1740662"/>
                    <a:pt x="525945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259451" y="1706880"/>
                  </a:lnTo>
                  <a:lnTo>
                    <a:pt x="5259451" y="1723771"/>
                  </a:lnTo>
                  <a:lnTo>
                    <a:pt x="5242560" y="17237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B8A7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937760" y="2231136"/>
            <a:ext cx="3931920" cy="1188720"/>
            <a:chOff x="0" y="0"/>
            <a:chExt cx="5242560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42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524256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🧫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84064" y="3566160"/>
            <a:ext cx="3657600" cy="768096"/>
            <a:chOff x="0" y="0"/>
            <a:chExt cx="487680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Flacherie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56583" y="4412999"/>
            <a:ext cx="2494283" cy="537467"/>
            <a:chOff x="0" y="0"/>
            <a:chExt cx="3325711" cy="7166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B8A7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25622" cy="716536"/>
            </a:xfrm>
            <a:custGeom>
              <a:avLst/>
              <a:gdLst/>
              <a:ahLst/>
              <a:cxnLst/>
              <a:rect r="r" b="b" t="t" l="l"/>
              <a:pathLst>
                <a:path h="716536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699643"/>
                  </a:lnTo>
                  <a:cubicBezTo>
                    <a:pt x="3325622" y="709041"/>
                    <a:pt x="3318002" y="716534"/>
                    <a:pt x="33087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308731" y="682752"/>
                  </a:lnTo>
                  <a:lnTo>
                    <a:pt x="3308731" y="699643"/>
                  </a:lnTo>
                  <a:lnTo>
                    <a:pt x="3291840" y="699643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B8A7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669280" y="4425696"/>
            <a:ext cx="2468880" cy="512064"/>
            <a:chOff x="0" y="0"/>
            <a:chExt cx="329184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Bacterial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212080" y="5082159"/>
            <a:ext cx="3383280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Common in Summer &amp; Rainy seasons. Spreads via contaminated mulberry leaf.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222743" y="2181863"/>
            <a:ext cx="3957323" cy="7249163"/>
            <a:chOff x="0" y="0"/>
            <a:chExt cx="5276431" cy="96655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24256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7634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222743" y="2181863"/>
            <a:ext cx="3957323" cy="1305563"/>
            <a:chOff x="0" y="0"/>
            <a:chExt cx="5276431" cy="17407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7634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723771"/>
                  </a:lnTo>
                  <a:cubicBezTo>
                    <a:pt x="5276342" y="1733169"/>
                    <a:pt x="5268722" y="1740662"/>
                    <a:pt x="525945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259451" y="1706880"/>
                  </a:lnTo>
                  <a:lnTo>
                    <a:pt x="5259451" y="1723771"/>
                  </a:lnTo>
                  <a:lnTo>
                    <a:pt x="5242560" y="17237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35440" y="2231136"/>
            <a:ext cx="3931920" cy="1188720"/>
            <a:chOff x="0" y="0"/>
            <a:chExt cx="5242560" cy="1584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42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23825"/>
              <a:ext cx="524256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🍄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81744" y="3566160"/>
            <a:ext cx="3657600" cy="768096"/>
            <a:chOff x="0" y="0"/>
            <a:chExt cx="487680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Muscardine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54263" y="4412999"/>
            <a:ext cx="2494283" cy="537467"/>
            <a:chOff x="0" y="0"/>
            <a:chExt cx="3325711" cy="71662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25622" cy="716536"/>
            </a:xfrm>
            <a:custGeom>
              <a:avLst/>
              <a:gdLst/>
              <a:ahLst/>
              <a:cxnLst/>
              <a:rect r="r" b="b" t="t" l="l"/>
              <a:pathLst>
                <a:path h="716536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699643"/>
                  </a:lnTo>
                  <a:cubicBezTo>
                    <a:pt x="3325622" y="709041"/>
                    <a:pt x="3318002" y="716534"/>
                    <a:pt x="33087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308731" y="682752"/>
                  </a:lnTo>
                  <a:lnTo>
                    <a:pt x="3308731" y="699643"/>
                  </a:lnTo>
                  <a:lnTo>
                    <a:pt x="3291840" y="699643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966960" y="4425696"/>
            <a:ext cx="2468880" cy="512064"/>
            <a:chOff x="0" y="0"/>
            <a:chExt cx="329184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Fungal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509760" y="5082159"/>
            <a:ext cx="3383280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Occurs in rainy/winter seasons. Larva vomits and turns flaccid, covered in white spores.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3520423" y="2181863"/>
            <a:ext cx="3957323" cy="7249163"/>
            <a:chOff x="0" y="0"/>
            <a:chExt cx="5276431" cy="96655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24256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7634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648572"/>
                  </a:lnTo>
                  <a:cubicBezTo>
                    <a:pt x="5276342" y="9657969"/>
                    <a:pt x="5268722" y="9665462"/>
                    <a:pt x="525945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259451" y="9631680"/>
                  </a:lnTo>
                  <a:lnTo>
                    <a:pt x="5259451" y="9648572"/>
                  </a:lnTo>
                  <a:lnTo>
                    <a:pt x="5242560" y="9648572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520423" y="2181863"/>
            <a:ext cx="3957323" cy="1305563"/>
            <a:chOff x="0" y="0"/>
            <a:chExt cx="5276431" cy="17407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7634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723771"/>
                  </a:lnTo>
                  <a:cubicBezTo>
                    <a:pt x="5276342" y="1733169"/>
                    <a:pt x="5268722" y="1740662"/>
                    <a:pt x="525945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259451" y="1706880"/>
                  </a:lnTo>
                  <a:lnTo>
                    <a:pt x="5259451" y="1723771"/>
                  </a:lnTo>
                  <a:lnTo>
                    <a:pt x="5242560" y="17237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533120" y="2231136"/>
            <a:ext cx="3931920" cy="1188720"/>
            <a:chOff x="0" y="0"/>
            <a:chExt cx="524256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42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23825"/>
              <a:ext cx="524256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⚫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679424" y="3566160"/>
            <a:ext cx="3657600" cy="768096"/>
            <a:chOff x="0" y="0"/>
            <a:chExt cx="487680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Pebrine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251943" y="4412999"/>
            <a:ext cx="2494283" cy="537467"/>
            <a:chOff x="0" y="0"/>
            <a:chExt cx="3325711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325622" cy="716536"/>
            </a:xfrm>
            <a:custGeom>
              <a:avLst/>
              <a:gdLst/>
              <a:ahLst/>
              <a:cxnLst/>
              <a:rect r="r" b="b" t="t" l="l"/>
              <a:pathLst>
                <a:path h="716536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699643"/>
                  </a:lnTo>
                  <a:cubicBezTo>
                    <a:pt x="3325622" y="709041"/>
                    <a:pt x="3318002" y="716534"/>
                    <a:pt x="33087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308731" y="682752"/>
                  </a:lnTo>
                  <a:lnTo>
                    <a:pt x="3308731" y="699643"/>
                  </a:lnTo>
                  <a:lnTo>
                    <a:pt x="3291840" y="699643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264640" y="4425696"/>
            <a:ext cx="2468880" cy="512064"/>
            <a:chOff x="0" y="0"/>
            <a:chExt cx="329184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Protozoan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3807440" y="5082159"/>
            <a:ext cx="3383280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Transmitted via eggs or contaminated leaf. Black pepper-like spots on body.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627383" y="9222743"/>
            <a:ext cx="17033243" cy="537467"/>
            <a:chOff x="0" y="0"/>
            <a:chExt cx="22710991" cy="71662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22677119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710902" cy="716536"/>
            </a:xfrm>
            <a:custGeom>
              <a:avLst/>
              <a:gdLst/>
              <a:ahLst/>
              <a:cxnLst/>
              <a:rect r="r" b="b" t="t" l="l"/>
              <a:pathLst>
                <a:path h="71653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99643"/>
                  </a:lnTo>
                  <a:cubicBezTo>
                    <a:pt x="22710902" y="709041"/>
                    <a:pt x="22703282" y="716534"/>
                    <a:pt x="2269401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694010" y="682752"/>
                  </a:lnTo>
                  <a:lnTo>
                    <a:pt x="22694010" y="699643"/>
                  </a:lnTo>
                  <a:lnTo>
                    <a:pt x="22677120" y="69964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40080" y="9235440"/>
            <a:ext cx="17007840" cy="512064"/>
            <a:chOff x="0" y="0"/>
            <a:chExt cx="2267712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22677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A single infected silkworm can spread disease to the entire batch — early detection is CRITICAL!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System &amp; 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What's lacking today?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181863"/>
            <a:ext cx="8255003" cy="7249163"/>
            <a:chOff x="0" y="0"/>
            <a:chExt cx="11006671" cy="9665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9631681"/>
            </a:xfrm>
            <a:custGeom>
              <a:avLst/>
              <a:gdLst/>
              <a:ahLst/>
              <a:cxnLst/>
              <a:rect r="r" b="b" t="t" l="l"/>
              <a:pathLst>
                <a:path h="96316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9665462"/>
            </a:xfrm>
            <a:custGeom>
              <a:avLst/>
              <a:gdLst/>
              <a:ahLst/>
              <a:cxnLst/>
              <a:rect r="r" b="b" t="t" l="l"/>
              <a:pathLst>
                <a:path h="96654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648572"/>
                  </a:lnTo>
                  <a:cubicBezTo>
                    <a:pt x="11006582" y="9657969"/>
                    <a:pt x="10998962" y="9665462"/>
                    <a:pt x="1098969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0989691" y="9631680"/>
                  </a:lnTo>
                  <a:lnTo>
                    <a:pt x="10989691" y="9648572"/>
                  </a:lnTo>
                  <a:lnTo>
                    <a:pt x="10972800" y="96485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C0B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181863"/>
            <a:ext cx="8255003" cy="848363"/>
            <a:chOff x="0" y="0"/>
            <a:chExt cx="1100667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194560"/>
            <a:ext cx="7863840" cy="822960"/>
            <a:chOff x="0" y="0"/>
            <a:chExt cx="104851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85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System – HOG + SVM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200400"/>
            <a:ext cx="7589520" cy="694944"/>
            <a:chOff x="0" y="0"/>
            <a:chExt cx="1011936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668 healthy + 574 Grasserie images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3968496"/>
            <a:ext cx="7589520" cy="694944"/>
            <a:chOff x="0" y="0"/>
            <a:chExt cx="1011936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HOG feature extraction + KPCA dimensionality reduction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4736592"/>
            <a:ext cx="7589520" cy="694944"/>
            <a:chOff x="0" y="0"/>
            <a:chExt cx="1011936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SVM classifier – achieved 93.16% accuracy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5504688"/>
            <a:ext cx="7589520" cy="694944"/>
            <a:chOff x="0" y="0"/>
            <a:chExt cx="1011936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Potential for IoT-based real-time tools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6272784"/>
            <a:ext cx="7589520" cy="694944"/>
            <a:chOff x="0" y="0"/>
            <a:chExt cx="1011936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6F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Limited to Grasserie disease only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5840" y="7040880"/>
            <a:ext cx="7589520" cy="694944"/>
            <a:chOff x="0" y="0"/>
            <a:chExt cx="1011936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6F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High resource &amp; time consumption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7808976"/>
            <a:ext cx="7589520" cy="694944"/>
            <a:chOff x="0" y="0"/>
            <a:chExt cx="1011936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6F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Does not recommend pesticides/remedies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" y="8577072"/>
            <a:ext cx="7589520" cy="694944"/>
            <a:chOff x="0" y="0"/>
            <a:chExt cx="1011936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119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76F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Requires controlled imaging conditions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14183" y="2181863"/>
            <a:ext cx="8346443" cy="7249163"/>
            <a:chOff x="0" y="0"/>
            <a:chExt cx="11128591" cy="96655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9631681"/>
            </a:xfrm>
            <a:custGeom>
              <a:avLst/>
              <a:gdLst/>
              <a:ahLst/>
              <a:cxnLst/>
              <a:rect r="r" b="b" t="t" l="l"/>
              <a:pathLst>
                <a:path h="9631681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9665462"/>
            </a:xfrm>
            <a:custGeom>
              <a:avLst/>
              <a:gdLst/>
              <a:ahLst/>
              <a:cxnLst/>
              <a:rect r="r" b="b" t="t" l="l"/>
              <a:pathLst>
                <a:path h="96654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648572"/>
                  </a:lnTo>
                  <a:cubicBezTo>
                    <a:pt x="11128501" y="9657969"/>
                    <a:pt x="11120882" y="9665462"/>
                    <a:pt x="1111161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1111611" y="9631680"/>
                  </a:lnTo>
                  <a:lnTo>
                    <a:pt x="11111611" y="9648572"/>
                  </a:lnTo>
                  <a:lnTo>
                    <a:pt x="11094720" y="9648572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D8E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14183" y="2181863"/>
            <a:ext cx="8346443" cy="848363"/>
            <a:chOff x="0" y="0"/>
            <a:chExt cx="11128591" cy="11311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09760" y="2194560"/>
            <a:ext cx="7955280" cy="822960"/>
            <a:chOff x="0" y="0"/>
            <a:chExt cx="1060704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607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Problem Statement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0" y="3200400"/>
            <a:ext cx="7772400" cy="640080"/>
            <a:chOff x="0" y="0"/>
            <a:chExt cx="1036320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63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03632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Silkworm diseases cause: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97063" y="4010663"/>
            <a:ext cx="427739" cy="427739"/>
            <a:chOff x="0" y="0"/>
            <a:chExt cx="570319" cy="5703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0" y="3986784"/>
            <a:ext cx="7223760" cy="640080"/>
            <a:chOff x="0" y="0"/>
            <a:chExt cx="96316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Substantial economic losses for farmers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97063" y="4833623"/>
            <a:ext cx="427739" cy="427739"/>
            <a:chOff x="0" y="0"/>
            <a:chExt cx="570319" cy="5703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58400" y="4809744"/>
            <a:ext cx="7223760" cy="640080"/>
            <a:chOff x="0" y="0"/>
            <a:chExt cx="96316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Rapid spread when undetected early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7063" y="5656583"/>
            <a:ext cx="427739" cy="427739"/>
            <a:chOff x="0" y="0"/>
            <a:chExt cx="570319" cy="5703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0" y="5632704"/>
            <a:ext cx="7223760" cy="640080"/>
            <a:chOff x="0" y="0"/>
            <a:chExt cx="96316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silk yield quality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97063" y="6479543"/>
            <a:ext cx="427739" cy="427739"/>
            <a:chOff x="0" y="0"/>
            <a:chExt cx="570319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58400" y="6455664"/>
            <a:ext cx="7223760" cy="640080"/>
            <a:chOff x="0" y="0"/>
            <a:chExt cx="963168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inspection is time-consuming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97063" y="7302503"/>
            <a:ext cx="427739" cy="427739"/>
            <a:chOff x="0" y="0"/>
            <a:chExt cx="570319" cy="5703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058400" y="7278624"/>
            <a:ext cx="7223760" cy="640080"/>
            <a:chOff x="0" y="0"/>
            <a:chExt cx="96316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Subtle early-stage symptoms missed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97063" y="8125463"/>
            <a:ext cx="427739" cy="427739"/>
            <a:chOff x="0" y="0"/>
            <a:chExt cx="570319" cy="57031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058400" y="8101584"/>
            <a:ext cx="7223760" cy="640080"/>
            <a:chOff x="0" y="0"/>
            <a:chExt cx="9631680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31680" cy="853440"/>
            </a:xfrm>
            <a:custGeom>
              <a:avLst/>
              <a:gdLst/>
              <a:ahLst/>
              <a:cxnLst/>
              <a:rect r="r" b="b" t="t" l="l"/>
              <a:pathLst>
                <a:path h="8534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902" r="0" b="-16990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631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real-time automated solution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 – Silk Shield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Sericulture Disease Detection Platform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103120"/>
            <a:ext cx="16824960" cy="914400"/>
            <a:chOff x="0" y="0"/>
            <a:chExt cx="2243328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433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1B2D2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system leverages EfficientNet-B3 CNN fine-tuned on curated silkworm disease images for real-time diagnosis with actionable recommendations.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242567"/>
            <a:ext cx="5420363" cy="2677163"/>
            <a:chOff x="0" y="0"/>
            <a:chExt cx="7227151" cy="3569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7383" y="3242567"/>
            <a:ext cx="1031243" cy="2677163"/>
            <a:chOff x="0" y="0"/>
            <a:chExt cx="1374991" cy="3569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3255264"/>
            <a:ext cx="1005840" cy="2651760"/>
            <a:chOff x="0" y="0"/>
            <a:chExt cx="1341120" cy="3535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📸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73936" y="3438144"/>
            <a:ext cx="4114800" cy="694944"/>
            <a:chOff x="0" y="0"/>
            <a:chExt cx="548640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Upload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865376" y="4131183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Mobile/web app for farmers to upload silkworm photos via smartphone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88103" y="3242567"/>
            <a:ext cx="5420363" cy="2677163"/>
            <a:chOff x="0" y="0"/>
            <a:chExt cx="7227151" cy="3569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88103" y="3242567"/>
            <a:ext cx="1031243" cy="2677163"/>
            <a:chOff x="0" y="0"/>
            <a:chExt cx="1374991" cy="35695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00800" y="3255264"/>
            <a:ext cx="1005840" cy="2651760"/>
            <a:chOff x="0" y="0"/>
            <a:chExt cx="1341120" cy="3535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34656" y="3438144"/>
            <a:ext cx="4114800" cy="694944"/>
            <a:chOff x="0" y="0"/>
            <a:chExt cx="5486400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626096" y="4131183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EfficientNet-B3 CNN model detects 5 classes: Healthy, Grasserie, Flacherie, Muscardine, Pebrine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48823" y="3242567"/>
            <a:ext cx="5420363" cy="2677163"/>
            <a:chOff x="0" y="0"/>
            <a:chExt cx="7227151" cy="35695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48823" y="3242567"/>
            <a:ext cx="1031243" cy="2677163"/>
            <a:chOff x="0" y="0"/>
            <a:chExt cx="1374991" cy="35695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61520" y="3255264"/>
            <a:ext cx="1005840" cy="2651760"/>
            <a:chOff x="0" y="0"/>
            <a:chExt cx="1341120" cy="3535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295376" y="3438144"/>
            <a:ext cx="4114800" cy="694944"/>
            <a:chOff x="0" y="0"/>
            <a:chExt cx="548640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Alerts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386816" y="4131183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disease detection with actionable preventive/curative recommendations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27383" y="6205223"/>
            <a:ext cx="5420363" cy="2677163"/>
            <a:chOff x="0" y="0"/>
            <a:chExt cx="7227151" cy="35695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27383" y="6205223"/>
            <a:ext cx="1031243" cy="2677163"/>
            <a:chOff x="0" y="0"/>
            <a:chExt cx="1374991" cy="35695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" y="6217920"/>
            <a:ext cx="1005840" cy="2651760"/>
            <a:chOff x="0" y="0"/>
            <a:chExt cx="1341120" cy="3535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73936" y="6400800"/>
            <a:ext cx="4114800" cy="694944"/>
            <a:chOff x="0" y="0"/>
            <a:chExt cx="548640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Climate Optimization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865376" y="7093839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temperature, humidity &amp; air quality for optimal cocoon rearing conditions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388103" y="6205223"/>
            <a:ext cx="5420363" cy="2677163"/>
            <a:chOff x="0" y="0"/>
            <a:chExt cx="7227151" cy="35695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388103" y="6205223"/>
            <a:ext cx="1031243" cy="2677163"/>
            <a:chOff x="0" y="0"/>
            <a:chExt cx="1374991" cy="356955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400800" y="6217920"/>
            <a:ext cx="1005840" cy="2651760"/>
            <a:chOff x="0" y="0"/>
            <a:chExt cx="1341120" cy="3535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🗃️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34656" y="6400800"/>
            <a:ext cx="4114800" cy="694944"/>
            <a:chOff x="0" y="0"/>
            <a:chExt cx="548640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Disease Database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7626096" y="7093839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learning database for improving accuracy over time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2148823" y="6205223"/>
            <a:ext cx="5420363" cy="2677163"/>
            <a:chOff x="0" y="0"/>
            <a:chExt cx="7227151" cy="35695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148823" y="6205223"/>
            <a:ext cx="1031243" cy="2677163"/>
            <a:chOff x="0" y="0"/>
            <a:chExt cx="1374991" cy="35695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161520" y="6217920"/>
            <a:ext cx="1005840" cy="2651760"/>
            <a:chOff x="0" y="0"/>
            <a:chExt cx="1341120" cy="3535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8254" t="0" r="-28825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76200"/>
              <a:ext cx="134112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295376" y="6400800"/>
            <a:ext cx="4114800" cy="694944"/>
            <a:chOff x="0" y="0"/>
            <a:chExt cx="5486400" cy="9265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3386816" y="7093839"/>
            <a:ext cx="3931920" cy="15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regional languages for rural farmer accessibility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Advantages Over Current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Silk Shield is Better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31520" y="2194560"/>
          <a:ext cx="16789400" cy="7315200"/>
        </p:xfrm>
        <a:graphic>
          <a:graphicData uri="http://schemas.openxmlformats.org/drawingml/2006/table">
            <a:tbl>
              <a:tblPr/>
              <a:tblGrid>
                <a:gridCol w="5114186"/>
                <a:gridCol w="5475896"/>
                <a:gridCol w="6199318"/>
              </a:tblGrid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Existing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Silk Shield (Proposed)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Disease Coverage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Only Grasserie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Diseases + Healthy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Speed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Manual / Slow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2 Seconds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~93.16%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96–98%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Remedy Suggestions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Mobile Access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Not Available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Web + Mobile App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Multilingual Support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Regional Languages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Climate Optimization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Yes (Temperature, Humidity)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(Lab Setup)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(Smartphone Only)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– Flow Diagram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Processing Pipeline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85383" y="2090423"/>
            <a:ext cx="3317243" cy="1397003"/>
            <a:chOff x="0" y="0"/>
            <a:chExt cx="4422991" cy="1862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29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845691"/>
                  </a:lnTo>
                  <a:cubicBezTo>
                    <a:pt x="4422902" y="1855089"/>
                    <a:pt x="4415282" y="1862582"/>
                    <a:pt x="44060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406011" y="1828800"/>
                  </a:lnTo>
                  <a:lnTo>
                    <a:pt x="4406011" y="1845691"/>
                  </a:lnTo>
                  <a:lnTo>
                    <a:pt x="4389120" y="184569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98080" y="2103120"/>
            <a:ext cx="3291840" cy="1371600"/>
            <a:chOff x="0" y="0"/>
            <a:chExt cx="438912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📤 Upload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Cocoon Image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18597" y="3449317"/>
            <a:ext cx="50797" cy="288541"/>
            <a:chOff x="0" y="0"/>
            <a:chExt cx="67729" cy="3847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33909"/>
              <a:ext cx="67691" cy="316992"/>
            </a:xfrm>
            <a:custGeom>
              <a:avLst/>
              <a:gdLst/>
              <a:ahLst/>
              <a:cxnLst/>
              <a:rect r="r" b="b" t="t" l="l"/>
              <a:pathLst>
                <a:path h="316992" w="67691">
                  <a:moveTo>
                    <a:pt x="67691" y="0"/>
                  </a:moveTo>
                  <a:lnTo>
                    <a:pt x="67691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485383" y="3608327"/>
            <a:ext cx="3317243" cy="1397003"/>
            <a:chOff x="0" y="0"/>
            <a:chExt cx="4422991" cy="1862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229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845691"/>
                  </a:lnTo>
                  <a:cubicBezTo>
                    <a:pt x="4422902" y="1855089"/>
                    <a:pt x="4415282" y="1862582"/>
                    <a:pt x="44060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406011" y="1828800"/>
                  </a:lnTo>
                  <a:lnTo>
                    <a:pt x="4406011" y="1845691"/>
                  </a:lnTo>
                  <a:lnTo>
                    <a:pt x="4389120" y="184569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98080" y="3621024"/>
            <a:ext cx="3291840" cy="1371600"/>
            <a:chOff x="0" y="0"/>
            <a:chExt cx="438912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🖼️ Image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(Resize, Normalize)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18597" y="4967221"/>
            <a:ext cx="50797" cy="288541"/>
            <a:chOff x="0" y="0"/>
            <a:chExt cx="67729" cy="3847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33909"/>
              <a:ext cx="67691" cy="316992"/>
            </a:xfrm>
            <a:custGeom>
              <a:avLst/>
              <a:gdLst/>
              <a:ahLst/>
              <a:cxnLst/>
              <a:rect r="r" b="b" t="t" l="l"/>
              <a:pathLst>
                <a:path h="316992" w="67691">
                  <a:moveTo>
                    <a:pt x="67691" y="0"/>
                  </a:moveTo>
                  <a:lnTo>
                    <a:pt x="67691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85383" y="5254247"/>
            <a:ext cx="3317243" cy="1397003"/>
            <a:chOff x="0" y="0"/>
            <a:chExt cx="4422991" cy="18626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229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845691"/>
                  </a:lnTo>
                  <a:cubicBezTo>
                    <a:pt x="4422902" y="1855089"/>
                    <a:pt x="4415282" y="1862582"/>
                    <a:pt x="44060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406011" y="1828800"/>
                  </a:lnTo>
                  <a:lnTo>
                    <a:pt x="4406011" y="1845691"/>
                  </a:lnTo>
                  <a:lnTo>
                    <a:pt x="4389120" y="184569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498080" y="5266944"/>
            <a:ext cx="3291840" cy="1371600"/>
            <a:chOff x="0" y="0"/>
            <a:chExt cx="438912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Feature Extraction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(EfficientNet-B3 Backbone)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18597" y="6613141"/>
            <a:ext cx="50797" cy="288541"/>
            <a:chOff x="0" y="0"/>
            <a:chExt cx="67729" cy="3847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33909"/>
              <a:ext cx="67691" cy="316992"/>
            </a:xfrm>
            <a:custGeom>
              <a:avLst/>
              <a:gdLst/>
              <a:ahLst/>
              <a:cxnLst/>
              <a:rect r="r" b="b" t="t" l="l"/>
              <a:pathLst>
                <a:path h="316992" w="67691">
                  <a:moveTo>
                    <a:pt x="67691" y="0"/>
                  </a:moveTo>
                  <a:lnTo>
                    <a:pt x="67691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85383" y="6845303"/>
            <a:ext cx="3317243" cy="1397003"/>
            <a:chOff x="0" y="0"/>
            <a:chExt cx="4422991" cy="18626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7D5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229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845691"/>
                  </a:lnTo>
                  <a:cubicBezTo>
                    <a:pt x="4422902" y="1855089"/>
                    <a:pt x="4415282" y="1862582"/>
                    <a:pt x="44060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406011" y="1828800"/>
                  </a:lnTo>
                  <a:lnTo>
                    <a:pt x="4406011" y="1845691"/>
                  </a:lnTo>
                  <a:lnTo>
                    <a:pt x="4389120" y="184569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7D5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498080" y="6858000"/>
            <a:ext cx="3291840" cy="1371600"/>
            <a:chOff x="0" y="0"/>
            <a:chExt cx="438912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Model Inference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(Trained EfficientNet-B3)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85383" y="8308343"/>
            <a:ext cx="3317243" cy="1031243"/>
            <a:chOff x="0" y="0"/>
            <a:chExt cx="44229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22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358011"/>
                  </a:lnTo>
                  <a:cubicBezTo>
                    <a:pt x="4422902" y="1367409"/>
                    <a:pt x="4415282" y="1374902"/>
                    <a:pt x="4406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4406011" y="1341120"/>
                  </a:lnTo>
                  <a:lnTo>
                    <a:pt x="4406011" y="1358011"/>
                  </a:lnTo>
                  <a:lnTo>
                    <a:pt x="4389120" y="135801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498080" y="8321040"/>
            <a:ext cx="3291840" cy="1005840"/>
            <a:chOff x="0" y="0"/>
            <a:chExt cx="4389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389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Disease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Detected?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764517" y="8789413"/>
            <a:ext cx="2062477" cy="50797"/>
            <a:chOff x="0" y="0"/>
            <a:chExt cx="2749969" cy="677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33909" y="0"/>
              <a:ext cx="2682240" cy="67691"/>
            </a:xfrm>
            <a:custGeom>
              <a:avLst/>
              <a:gdLst/>
              <a:ahLst/>
              <a:cxnLst/>
              <a:rect r="r" b="b" t="t" l="l"/>
              <a:pathLst>
                <a:path h="67691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788903" y="8344919"/>
            <a:ext cx="4414523" cy="1031243"/>
            <a:chOff x="0" y="0"/>
            <a:chExt cx="588603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85942" cy="1374902"/>
            </a:xfrm>
            <a:custGeom>
              <a:avLst/>
              <a:gdLst/>
              <a:ahLst/>
              <a:cxnLst/>
              <a:rect r="r" b="b" t="t" l="l"/>
              <a:pathLst>
                <a:path h="137490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358011"/>
                  </a:lnTo>
                  <a:cubicBezTo>
                    <a:pt x="5885942" y="1367409"/>
                    <a:pt x="5878322" y="1374902"/>
                    <a:pt x="586905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869051" y="1341120"/>
                  </a:lnTo>
                  <a:lnTo>
                    <a:pt x="5869051" y="1358011"/>
                  </a:lnTo>
                  <a:lnTo>
                    <a:pt x="5852160" y="135801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801600" y="8357616"/>
            <a:ext cx="4389120" cy="1005840"/>
            <a:chOff x="0" y="0"/>
            <a:chExt cx="585216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8521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YES → "Disease Detected"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Treatment Advice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3143" y="8344919"/>
            <a:ext cx="4505963" cy="1031243"/>
            <a:chOff x="0" y="0"/>
            <a:chExt cx="6007951" cy="1374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59740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078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6007862">
                  <a:moveTo>
                    <a:pt x="16891" y="0"/>
                  </a:moveTo>
                  <a:lnTo>
                    <a:pt x="5990971" y="0"/>
                  </a:lnTo>
                  <a:cubicBezTo>
                    <a:pt x="6000369" y="0"/>
                    <a:pt x="6007862" y="7620"/>
                    <a:pt x="6007862" y="16891"/>
                  </a:cubicBezTo>
                  <a:lnTo>
                    <a:pt x="6007862" y="1358011"/>
                  </a:lnTo>
                  <a:cubicBezTo>
                    <a:pt x="6007862" y="1367409"/>
                    <a:pt x="6000242" y="1374902"/>
                    <a:pt x="59909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990971" y="1341120"/>
                  </a:lnTo>
                  <a:lnTo>
                    <a:pt x="5990971" y="1358011"/>
                  </a:lnTo>
                  <a:lnTo>
                    <a:pt x="5974080" y="1358011"/>
                  </a:lnTo>
                  <a:lnTo>
                    <a:pt x="5974080" y="16891"/>
                  </a:lnTo>
                  <a:lnTo>
                    <a:pt x="5990971" y="16891"/>
                  </a:lnTo>
                  <a:lnTo>
                    <a:pt x="599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5840" y="8357616"/>
            <a:ext cx="4480560" cy="1005840"/>
            <a:chOff x="0" y="0"/>
            <a:chExt cx="597408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740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9740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❎ NO → "Healthy"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Silkworms Confirmed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26496" y="8449056"/>
            <a:ext cx="914400" cy="457200"/>
            <a:chOff x="0" y="0"/>
            <a:chExt cx="12192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492240" y="8449056"/>
            <a:ext cx="914400" cy="457200"/>
            <a:chOff x="0" y="0"/>
            <a:chExt cx="12192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31520" y="2139696"/>
            <a:ext cx="6400800" cy="640080"/>
            <a:chOff x="0" y="0"/>
            <a:chExt cx="853440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1: Input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31520" y="3657600"/>
            <a:ext cx="6400800" cy="640080"/>
            <a:chOff x="0" y="0"/>
            <a:chExt cx="8534400" cy="85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2: Preprocessing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31520" y="5175504"/>
            <a:ext cx="6400800" cy="640080"/>
            <a:chOff x="0" y="0"/>
            <a:chExt cx="8534400" cy="853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3: Feature Extraction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31520" y="6693408"/>
            <a:ext cx="6400800" cy="640080"/>
            <a:chOff x="0" y="0"/>
            <a:chExt cx="853440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4: Inference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1520" y="8211312"/>
            <a:ext cx="6400800" cy="640080"/>
            <a:chOff x="0" y="0"/>
            <a:chExt cx="853440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5: Decision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 Pipeline – Silk Shield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Detailed Processing Workflow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730503"/>
            <a:ext cx="1854203" cy="1762763"/>
            <a:chOff x="0" y="0"/>
            <a:chExt cx="2472271" cy="2350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2743200"/>
            <a:ext cx="1828800" cy="914400"/>
            <a:chOff x="0" y="0"/>
            <a:chExt cx="24384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3566160"/>
            <a:ext cx="1828800" cy="914400"/>
            <a:chOff x="0" y="0"/>
            <a:chExt cx="24384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37133" y="3570989"/>
            <a:ext cx="392687" cy="63503"/>
            <a:chOff x="0" y="0"/>
            <a:chExt cx="523583" cy="84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40080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Image Capture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(Mobile/Web Upload)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785367" y="2730503"/>
            <a:ext cx="1854203" cy="1762763"/>
            <a:chOff x="0" y="0"/>
            <a:chExt cx="2472271" cy="23503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98064" y="2743200"/>
            <a:ext cx="1828800" cy="914400"/>
            <a:chOff x="0" y="0"/>
            <a:chExt cx="24384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798064" y="3566160"/>
            <a:ext cx="1828800" cy="914400"/>
            <a:chOff x="0" y="0"/>
            <a:chExt cx="24384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5117" y="3570989"/>
            <a:ext cx="392687" cy="63503"/>
            <a:chOff x="0" y="0"/>
            <a:chExt cx="523583" cy="846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798064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Image Preprocessing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(Resize, Normalize, Denoise)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943351" y="2730503"/>
            <a:ext cx="1854203" cy="1762763"/>
            <a:chOff x="0" y="0"/>
            <a:chExt cx="2472271" cy="23503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56048" y="2743200"/>
            <a:ext cx="1828800" cy="914400"/>
            <a:chOff x="0" y="0"/>
            <a:chExt cx="24384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56048" y="3566160"/>
            <a:ext cx="1828800" cy="914400"/>
            <a:chOff x="0" y="0"/>
            <a:chExt cx="24384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53101" y="3570989"/>
            <a:ext cx="392687" cy="63503"/>
            <a:chOff x="0" y="0"/>
            <a:chExt cx="523583" cy="846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4956048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CNN Model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(EfficientNet-B3 Fine-Tuned)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01335" y="2730503"/>
            <a:ext cx="1854203" cy="1762763"/>
            <a:chOff x="0" y="0"/>
            <a:chExt cx="2472271" cy="23503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3A7D5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7D5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14032" y="2743200"/>
            <a:ext cx="1828800" cy="914400"/>
            <a:chOff x="0" y="0"/>
            <a:chExt cx="243840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14032" y="3566160"/>
            <a:ext cx="1828800" cy="914400"/>
            <a:chOff x="0" y="0"/>
            <a:chExt cx="24384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911085" y="3570989"/>
            <a:ext cx="392687" cy="63503"/>
            <a:chOff x="0" y="0"/>
            <a:chExt cx="523583" cy="846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7114032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Disease Classification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 Confidence Score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259319" y="2730503"/>
            <a:ext cx="1854203" cy="1762763"/>
            <a:chOff x="0" y="0"/>
            <a:chExt cx="2472271" cy="23503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72016" y="2743200"/>
            <a:ext cx="1828800" cy="914400"/>
            <a:chOff x="0" y="0"/>
            <a:chExt cx="24384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💊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272016" y="3566160"/>
            <a:ext cx="1828800" cy="914400"/>
            <a:chOff x="0" y="0"/>
            <a:chExt cx="24384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069069" y="3570989"/>
            <a:ext cx="392687" cy="63503"/>
            <a:chOff x="0" y="0"/>
            <a:chExt cx="523583" cy="846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272016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Diagnosis + Prevention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/ Treatment Suggestions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417303" y="2730503"/>
            <a:ext cx="1854203" cy="1762763"/>
            <a:chOff x="0" y="0"/>
            <a:chExt cx="2472271" cy="23503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C85A38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5A3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430000" y="2743200"/>
            <a:ext cx="1828800" cy="914400"/>
            <a:chOff x="0" y="0"/>
            <a:chExt cx="243840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📲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430000" y="3566160"/>
            <a:ext cx="1828800" cy="914400"/>
            <a:chOff x="0" y="0"/>
            <a:chExt cx="243840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227053" y="3570989"/>
            <a:ext cx="392687" cy="63503"/>
            <a:chOff x="0" y="0"/>
            <a:chExt cx="523583" cy="846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1430000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 Results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(Web/Mobile UI)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3575287" y="2730503"/>
            <a:ext cx="1854203" cy="1762763"/>
            <a:chOff x="0" y="0"/>
            <a:chExt cx="2472271" cy="23503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587984" y="2743200"/>
            <a:ext cx="1828800" cy="914400"/>
            <a:chOff x="0" y="0"/>
            <a:chExt cx="2438400" cy="1219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🔔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587984" y="3566160"/>
            <a:ext cx="1828800" cy="914400"/>
            <a:chOff x="0" y="0"/>
            <a:chExt cx="243840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385037" y="3570989"/>
            <a:ext cx="392687" cy="63503"/>
            <a:chOff x="0" y="0"/>
            <a:chExt cx="523583" cy="846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42291" y="0"/>
              <a:ext cx="438912" cy="84709"/>
            </a:xfrm>
            <a:custGeom>
              <a:avLst/>
              <a:gdLst/>
              <a:ahLst/>
              <a:cxnLst/>
              <a:rect r="r" b="b" t="t" l="l"/>
              <a:pathLst>
                <a:path h="8470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3587984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Alert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Notification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5733271" y="2730503"/>
            <a:ext cx="1854203" cy="1762763"/>
            <a:chOff x="0" y="0"/>
            <a:chExt cx="2472271" cy="23503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4384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72182" cy="2350262"/>
            </a:xfrm>
            <a:custGeom>
              <a:avLst/>
              <a:gdLst/>
              <a:ahLst/>
              <a:cxnLst/>
              <a:rect r="r" b="b" t="t" l="l"/>
              <a:pathLst>
                <a:path h="235026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2333371"/>
                  </a:lnTo>
                  <a:cubicBezTo>
                    <a:pt x="2472182" y="2342769"/>
                    <a:pt x="2464562" y="2350262"/>
                    <a:pt x="2455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455291" y="2316480"/>
                  </a:lnTo>
                  <a:lnTo>
                    <a:pt x="2455291" y="2333371"/>
                  </a:lnTo>
                  <a:lnTo>
                    <a:pt x="2438400" y="233337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5745968" y="2743200"/>
            <a:ext cx="1828800" cy="914400"/>
            <a:chOff x="0" y="0"/>
            <a:chExt cx="2438400" cy="1219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🗃️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745968" y="3566160"/>
            <a:ext cx="1828800" cy="914400"/>
            <a:chOff x="0" y="0"/>
            <a:chExt cx="2438400" cy="1219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76200"/>
              <a:ext cx="2438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5745968" y="4671060"/>
            <a:ext cx="182880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Disease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Occurrence DB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627383" y="6662423"/>
            <a:ext cx="17033243" cy="2860043"/>
            <a:chOff x="0" y="0"/>
            <a:chExt cx="22710991" cy="381339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2267711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71090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796411"/>
                  </a:lnTo>
                  <a:cubicBezTo>
                    <a:pt x="22710902" y="3805809"/>
                    <a:pt x="22703282" y="3813302"/>
                    <a:pt x="22694010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694010" y="3779520"/>
                  </a:lnTo>
                  <a:lnTo>
                    <a:pt x="22694010" y="3796411"/>
                  </a:lnTo>
                  <a:lnTo>
                    <a:pt x="22677120" y="37964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14400" y="6803136"/>
            <a:ext cx="16459200" cy="585216"/>
            <a:chOff x="0" y="0"/>
            <a:chExt cx="21945600" cy="7802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Advantages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7498080"/>
            <a:ext cx="3200400" cy="1645920"/>
            <a:chOff x="0" y="0"/>
            <a:chExt cx="4267200" cy="2194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Early Disease Detection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4297680" y="7498080"/>
            <a:ext cx="3200400" cy="1645920"/>
            <a:chOff x="0" y="0"/>
            <a:chExt cx="4267200" cy="21945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Real-Time Alerts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680960" y="7498080"/>
            <a:ext cx="3200400" cy="1645920"/>
            <a:chOff x="0" y="0"/>
            <a:chExt cx="4267200" cy="21945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Multilingual Support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064240" y="7498080"/>
            <a:ext cx="3200400" cy="1645920"/>
            <a:chOff x="0" y="0"/>
            <a:chExt cx="4267200" cy="219456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Climate-Based Cocoon Optimization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447520" y="7498080"/>
            <a:ext cx="3200400" cy="1645920"/>
            <a:chOff x="0" y="0"/>
            <a:chExt cx="4267200" cy="21945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Scalable &amp; Low-Cost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 – Key Research Papers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Building on Prior Work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40080" y="2194560"/>
          <a:ext cx="16967200" cy="7289800"/>
        </p:xfrm>
        <a:graphic>
          <a:graphicData uri="http://schemas.openxmlformats.org/drawingml/2006/table">
            <a:tbl>
              <a:tblPr/>
              <a:tblGrid>
                <a:gridCol w="768967"/>
                <a:gridCol w="3645102"/>
                <a:gridCol w="5442686"/>
                <a:gridCol w="4543894"/>
                <a:gridCol w="2566551"/>
              </a:tblGrid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Research Focus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Binson V.A., Manju 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Automated Disease Detection in Silkworms Using 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HOG + KPCA + SVM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93.16%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Md. Islam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Deep Learning for Cotton Disease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VGG-16/19, Xception Fine-tuning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98.70%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Gul Munir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Multi-Crop Disease Detection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ResNet50 + Edge Computing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Promising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W.Q.Li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Pest &amp; Disease Detection via Deep Learning Drones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 + HD Imaging + Wireless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J.K. Patel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Deep Learning Pest Recognition for Sericulture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 on Sericulture Pest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S.L.Nguyen et 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Climate-Aware Cocoon Quality Optimization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Recurrent Neural Network (RNN)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Field Validated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Related Works &amp; Research Gap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Motivated Silk Shield?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181863"/>
            <a:ext cx="8163563" cy="2951483"/>
            <a:chOff x="0" y="0"/>
            <a:chExt cx="10884751" cy="3935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8508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4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3918331"/>
                  </a:lnTo>
                  <a:cubicBezTo>
                    <a:pt x="10884662" y="3927729"/>
                    <a:pt x="10877042" y="3935222"/>
                    <a:pt x="108677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867772" y="3901440"/>
                  </a:lnTo>
                  <a:lnTo>
                    <a:pt x="10867772" y="3918331"/>
                  </a:lnTo>
                  <a:lnTo>
                    <a:pt x="10850880" y="39183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181863"/>
            <a:ext cx="1305563" cy="2951483"/>
            <a:chOff x="0" y="0"/>
            <a:chExt cx="1740751" cy="3935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0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918331"/>
                  </a:lnTo>
                  <a:cubicBezTo>
                    <a:pt x="1740662" y="3927729"/>
                    <a:pt x="1733042" y="3935222"/>
                    <a:pt x="17237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723771" y="3901440"/>
                  </a:lnTo>
                  <a:lnTo>
                    <a:pt x="1723771" y="3918331"/>
                  </a:lnTo>
                  <a:lnTo>
                    <a:pt x="1706880" y="39183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194560"/>
            <a:ext cx="1280160" cy="2926080"/>
            <a:chOff x="0" y="0"/>
            <a:chExt cx="1706880" cy="3901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t="0" r="-24326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1706880" cy="4015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57984" y="2377440"/>
            <a:ext cx="6400800" cy="768096"/>
            <a:chOff x="0" y="0"/>
            <a:chExt cx="853440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 Disease Detection (CNNs)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49424" y="3143631"/>
            <a:ext cx="62179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PlantVillage dataset studies achieved &gt;95% accuracy using AlexNet/VGG16. Most focus on plants, not silkworms.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05623" y="2181863"/>
            <a:ext cx="8163563" cy="2951483"/>
            <a:chOff x="0" y="0"/>
            <a:chExt cx="10884751" cy="39353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8508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84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3918331"/>
                  </a:lnTo>
                  <a:cubicBezTo>
                    <a:pt x="10884662" y="3927729"/>
                    <a:pt x="10877042" y="3935222"/>
                    <a:pt x="108677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867772" y="3901440"/>
                  </a:lnTo>
                  <a:lnTo>
                    <a:pt x="10867772" y="3918331"/>
                  </a:lnTo>
                  <a:lnTo>
                    <a:pt x="10850880" y="39183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05623" y="2181863"/>
            <a:ext cx="1305563" cy="2951483"/>
            <a:chOff x="0" y="0"/>
            <a:chExt cx="1740751" cy="39353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40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918331"/>
                  </a:lnTo>
                  <a:cubicBezTo>
                    <a:pt x="1740662" y="3927729"/>
                    <a:pt x="1733042" y="3935222"/>
                    <a:pt x="17237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723771" y="3901440"/>
                  </a:lnTo>
                  <a:lnTo>
                    <a:pt x="1723771" y="3918331"/>
                  </a:lnTo>
                  <a:lnTo>
                    <a:pt x="1706880" y="39183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18320" y="2194560"/>
            <a:ext cx="1280160" cy="2926080"/>
            <a:chOff x="0" y="0"/>
            <a:chExt cx="1706880" cy="3901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t="0" r="-24326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1706880" cy="4015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🐛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844784" y="2377440"/>
            <a:ext cx="6400800" cy="768096"/>
            <a:chOff x="0" y="0"/>
            <a:chExt cx="853440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in Sericulture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936224" y="3143631"/>
            <a:ext cx="62179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deep-learning work on silkworm diseases. CNN models for pebrine/grasserie show promise but face dataset limitations.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18823" y="5437127"/>
            <a:ext cx="8163563" cy="2951483"/>
            <a:chOff x="0" y="0"/>
            <a:chExt cx="10884751" cy="39353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8508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84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3918331"/>
                  </a:lnTo>
                  <a:cubicBezTo>
                    <a:pt x="10884662" y="3927729"/>
                    <a:pt x="10877042" y="3935222"/>
                    <a:pt x="108677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867772" y="3901440"/>
                  </a:lnTo>
                  <a:lnTo>
                    <a:pt x="10867772" y="3918331"/>
                  </a:lnTo>
                  <a:lnTo>
                    <a:pt x="10850880" y="39183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18823" y="5437127"/>
            <a:ext cx="1305563" cy="2951483"/>
            <a:chOff x="0" y="0"/>
            <a:chExt cx="1740751" cy="3935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40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918331"/>
                  </a:lnTo>
                  <a:cubicBezTo>
                    <a:pt x="1740662" y="3927729"/>
                    <a:pt x="1733042" y="3935222"/>
                    <a:pt x="17237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723771" y="3901440"/>
                  </a:lnTo>
                  <a:lnTo>
                    <a:pt x="1723771" y="3918331"/>
                  </a:lnTo>
                  <a:lnTo>
                    <a:pt x="1706880" y="39183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5449824"/>
            <a:ext cx="1280160" cy="2926080"/>
            <a:chOff x="0" y="0"/>
            <a:chExt cx="1706880" cy="3901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t="0" r="-24326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14300"/>
              <a:ext cx="1706880" cy="4015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57984" y="5632704"/>
            <a:ext cx="6400800" cy="768096"/>
            <a:chOff x="0" y="0"/>
            <a:chExt cx="8534400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Apps for Farmers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249424" y="6398895"/>
            <a:ext cx="62179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Plantix and Krishi Network offer AI-based diagnosis but are generalized — not tailored for sericulture.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05623" y="5437127"/>
            <a:ext cx="8163563" cy="2951483"/>
            <a:chOff x="0" y="0"/>
            <a:chExt cx="10884751" cy="39353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8508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84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3918331"/>
                  </a:lnTo>
                  <a:cubicBezTo>
                    <a:pt x="10884662" y="3927729"/>
                    <a:pt x="10877042" y="3935222"/>
                    <a:pt x="108677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867772" y="3901440"/>
                  </a:lnTo>
                  <a:lnTo>
                    <a:pt x="10867772" y="3918331"/>
                  </a:lnTo>
                  <a:lnTo>
                    <a:pt x="10850880" y="39183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05623" y="5437127"/>
            <a:ext cx="1305563" cy="2951483"/>
            <a:chOff x="0" y="0"/>
            <a:chExt cx="1740751" cy="39353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406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918331"/>
                  </a:lnTo>
                  <a:cubicBezTo>
                    <a:pt x="1740662" y="3927729"/>
                    <a:pt x="1733042" y="3935222"/>
                    <a:pt x="17237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723771" y="3901440"/>
                  </a:lnTo>
                  <a:lnTo>
                    <a:pt x="1723771" y="3918331"/>
                  </a:lnTo>
                  <a:lnTo>
                    <a:pt x="1706880" y="39183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18320" y="5449824"/>
            <a:ext cx="1280160" cy="2926080"/>
            <a:chOff x="0" y="0"/>
            <a:chExt cx="1706880" cy="3901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t="0" r="-24326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14300"/>
              <a:ext cx="1706880" cy="4015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44784" y="5632704"/>
            <a:ext cx="6400800" cy="768096"/>
            <a:chOff x="0" y="0"/>
            <a:chExt cx="853440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 + AI Smart Farming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936224" y="6398895"/>
            <a:ext cx="62179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Environmental monitoring for greenhouses exists but has NOT been extended to sericulture-specific disease detection.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18823" y="8728967"/>
            <a:ext cx="16850363" cy="848363"/>
            <a:chOff x="0" y="0"/>
            <a:chExt cx="22467151" cy="11311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467063" cy="1131064"/>
            </a:xfrm>
            <a:custGeom>
              <a:avLst/>
              <a:gdLst/>
              <a:ahLst/>
              <a:cxnLst/>
              <a:rect r="r" b="b" t="t" l="l"/>
              <a:pathLst>
                <a:path h="113106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114171"/>
                  </a:lnTo>
                  <a:cubicBezTo>
                    <a:pt x="22467063" y="1123569"/>
                    <a:pt x="22459443" y="1131062"/>
                    <a:pt x="22450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2450171" y="1097280"/>
                  </a:lnTo>
                  <a:lnTo>
                    <a:pt x="22450171" y="1114171"/>
                  </a:lnTo>
                  <a:lnTo>
                    <a:pt x="22433280" y="111417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31520" y="8741664"/>
            <a:ext cx="16824960" cy="822960"/>
            <a:chOff x="0" y="0"/>
            <a:chExt cx="22433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2433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Research Gap: No domain-specific, user-friendly AI tool for silkworm disease detection exists → Silk Shield fills this gap!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Requirements &amp; Specifications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 &amp; Non-Functional Requirements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8437883" cy="7304027"/>
            <a:chOff x="0" y="0"/>
            <a:chExt cx="11250511" cy="97387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9704832"/>
            </a:xfrm>
            <a:custGeom>
              <a:avLst/>
              <a:gdLst/>
              <a:ahLst/>
              <a:cxnLst/>
              <a:rect r="r" b="b" t="t" l="l"/>
              <a:pathLst>
                <a:path h="97048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9738614"/>
            </a:xfrm>
            <a:custGeom>
              <a:avLst/>
              <a:gdLst/>
              <a:ahLst/>
              <a:cxnLst/>
              <a:rect r="r" b="b" t="t" l="l"/>
              <a:pathLst>
                <a:path h="973861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721723"/>
                  </a:lnTo>
                  <a:cubicBezTo>
                    <a:pt x="11250422" y="9731121"/>
                    <a:pt x="11242802" y="9738614"/>
                    <a:pt x="1123353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11233531" y="9704832"/>
                  </a:lnTo>
                  <a:lnTo>
                    <a:pt x="11233531" y="9721723"/>
                  </a:lnTo>
                  <a:lnTo>
                    <a:pt x="11216640" y="97217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8437883" cy="903227"/>
            <a:chOff x="0" y="0"/>
            <a:chExt cx="11250511" cy="12043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216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87323"/>
                  </a:lnTo>
                  <a:cubicBezTo>
                    <a:pt x="11250422" y="1196721"/>
                    <a:pt x="11242802" y="1204214"/>
                    <a:pt x="1123353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1233531" y="1170432"/>
                  </a:lnTo>
                  <a:lnTo>
                    <a:pt x="11233531" y="1187323"/>
                  </a:lnTo>
                  <a:lnTo>
                    <a:pt x="11216640" y="118732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194560"/>
            <a:ext cx="8046720" cy="877824"/>
            <a:chOff x="0" y="0"/>
            <a:chExt cx="1072896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Functional Requirements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3279143"/>
            <a:ext cx="391163" cy="391163"/>
            <a:chOff x="0" y="0"/>
            <a:chExt cx="521551" cy="521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6736" y="3236976"/>
            <a:ext cx="2743200" cy="512064"/>
            <a:chOff x="0" y="0"/>
            <a:chExt cx="365760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Pre-processing: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6736" y="3621024"/>
            <a:ext cx="7223760" cy="402336"/>
            <a:chOff x="0" y="0"/>
            <a:chExt cx="963168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RGB → HSV conversion for color-based analysis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0263" y="4248407"/>
            <a:ext cx="391163" cy="391163"/>
            <a:chOff x="0" y="0"/>
            <a:chExt cx="521551" cy="521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16736" y="4206240"/>
            <a:ext cx="2743200" cy="512064"/>
            <a:chOff x="0" y="0"/>
            <a:chExt cx="36576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Extraction: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6736" y="4590288"/>
            <a:ext cx="7223760" cy="402336"/>
            <a:chOff x="0" y="0"/>
            <a:chExt cx="963168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Gabor filters for texture &amp; frequency analysis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0263" y="5217671"/>
            <a:ext cx="391163" cy="391163"/>
            <a:chOff x="0" y="0"/>
            <a:chExt cx="521551" cy="5215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16736" y="5175504"/>
            <a:ext cx="2743200" cy="512064"/>
            <a:chOff x="0" y="0"/>
            <a:chExt cx="36576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GLCM Features: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6736" y="5559552"/>
            <a:ext cx="7223760" cy="402336"/>
            <a:chOff x="0" y="0"/>
            <a:chExt cx="963168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Energy, mean, homogeneity, standard deviation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0263" y="6186935"/>
            <a:ext cx="391163" cy="391163"/>
            <a:chOff x="0" y="0"/>
            <a:chExt cx="521551" cy="5215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16736" y="6144768"/>
            <a:ext cx="2743200" cy="512064"/>
            <a:chOff x="0" y="0"/>
            <a:chExt cx="36576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Classification: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6736" y="6528816"/>
            <a:ext cx="7223760" cy="402336"/>
            <a:chOff x="0" y="0"/>
            <a:chExt cx="963168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EfficientNet-B3 for accurate disease identification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10263" y="7156199"/>
            <a:ext cx="391163" cy="391163"/>
            <a:chOff x="0" y="0"/>
            <a:chExt cx="521551" cy="5215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16736" y="7114032"/>
            <a:ext cx="2743200" cy="512064"/>
            <a:chOff x="0" y="0"/>
            <a:chExt cx="36576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Optimization: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" y="7498080"/>
            <a:ext cx="7223760" cy="402336"/>
            <a:chOff x="0" y="0"/>
            <a:chExt cx="963168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 feature extraction + robust classifiers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0263" y="8125463"/>
            <a:ext cx="391163" cy="391163"/>
            <a:chOff x="0" y="0"/>
            <a:chExt cx="521551" cy="5215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16736" y="8083296"/>
            <a:ext cx="2743200" cy="512064"/>
            <a:chOff x="0" y="0"/>
            <a:chExt cx="36576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Processing: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16736" y="8467344"/>
            <a:ext cx="7223760" cy="402336"/>
            <a:chOff x="0" y="0"/>
            <a:chExt cx="9631680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 2 second inference time for field use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05623" y="2181863"/>
            <a:ext cx="8255003" cy="7304027"/>
            <a:chOff x="0" y="0"/>
            <a:chExt cx="11006671" cy="973870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972800" cy="9704832"/>
            </a:xfrm>
            <a:custGeom>
              <a:avLst/>
              <a:gdLst/>
              <a:ahLst/>
              <a:cxnLst/>
              <a:rect r="r" b="b" t="t" l="l"/>
              <a:pathLst>
                <a:path h="970483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006582" cy="9738614"/>
            </a:xfrm>
            <a:custGeom>
              <a:avLst/>
              <a:gdLst/>
              <a:ahLst/>
              <a:cxnLst/>
              <a:rect r="r" b="b" t="t" l="l"/>
              <a:pathLst>
                <a:path h="973861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721723"/>
                  </a:lnTo>
                  <a:cubicBezTo>
                    <a:pt x="11006582" y="9731121"/>
                    <a:pt x="10998962" y="9738614"/>
                    <a:pt x="1098969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10989691" y="9704832"/>
                  </a:lnTo>
                  <a:lnTo>
                    <a:pt x="10989691" y="9721723"/>
                  </a:lnTo>
                  <a:lnTo>
                    <a:pt x="10972800" y="972172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05623" y="2181863"/>
            <a:ext cx="8255003" cy="903227"/>
            <a:chOff x="0" y="0"/>
            <a:chExt cx="1100667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0972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006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87323"/>
                  </a:lnTo>
                  <a:cubicBezTo>
                    <a:pt x="11006582" y="1196721"/>
                    <a:pt x="10998962" y="1204214"/>
                    <a:pt x="10989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989691" y="1170432"/>
                  </a:lnTo>
                  <a:lnTo>
                    <a:pt x="10989691" y="1187323"/>
                  </a:lnTo>
                  <a:lnTo>
                    <a:pt x="10972800" y="118732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601200" y="2194560"/>
            <a:ext cx="7863840" cy="877824"/>
            <a:chOff x="0" y="0"/>
            <a:chExt cx="10485120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4851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🏗️ Non-Functional Requirements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88503" y="3279143"/>
            <a:ext cx="391163" cy="391163"/>
            <a:chOff x="0" y="0"/>
            <a:chExt cx="521551" cy="5215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94976" y="3236976"/>
            <a:ext cx="2560320" cy="512064"/>
            <a:chOff x="0" y="0"/>
            <a:chExt cx="341376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Ease of Use: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94976" y="3621024"/>
            <a:ext cx="7223760" cy="402336"/>
            <a:chOff x="0" y="0"/>
            <a:chExt cx="963168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User-friendly interface for smooth operation without technical expertise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88503" y="4248407"/>
            <a:ext cx="391163" cy="391163"/>
            <a:chOff x="0" y="0"/>
            <a:chExt cx="521551" cy="5215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094976" y="4206240"/>
            <a:ext cx="2560320" cy="512064"/>
            <a:chOff x="0" y="0"/>
            <a:chExt cx="341376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Efficiency: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094976" y="4590288"/>
            <a:ext cx="7223760" cy="402336"/>
            <a:chOff x="0" y="0"/>
            <a:chExt cx="963168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Optimized to handle large datasets and complex computations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88503" y="5217671"/>
            <a:ext cx="391163" cy="391163"/>
            <a:chOff x="0" y="0"/>
            <a:chExt cx="521551" cy="52155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094976" y="5175504"/>
            <a:ext cx="2560320" cy="512064"/>
            <a:chOff x="0" y="0"/>
            <a:chExt cx="341376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Portability: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094976" y="5559552"/>
            <a:ext cx="7223760" cy="402336"/>
            <a:chOff x="0" y="0"/>
            <a:chExt cx="9631680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on multiple platforms – mobile, web, desktop, edge devices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588503" y="6186935"/>
            <a:ext cx="391163" cy="391163"/>
            <a:chOff x="0" y="0"/>
            <a:chExt cx="521551" cy="52155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094976" y="6144768"/>
            <a:ext cx="2560320" cy="512064"/>
            <a:chOff x="0" y="0"/>
            <a:chExt cx="341376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Performance: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094976" y="6528816"/>
            <a:ext cx="7223760" cy="402336"/>
            <a:chOff x="0" y="0"/>
            <a:chExt cx="963168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classification with minimal false positives/negatives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588503" y="7156199"/>
            <a:ext cx="391163" cy="391163"/>
            <a:chOff x="0" y="0"/>
            <a:chExt cx="521551" cy="52155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094976" y="7114032"/>
            <a:ext cx="2560320" cy="512064"/>
            <a:chOff x="0" y="0"/>
            <a:chExt cx="341376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Scalability: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094976" y="7498080"/>
            <a:ext cx="7223760" cy="402336"/>
            <a:chOff x="0" y="0"/>
            <a:chExt cx="9631680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design supports future disease/pest additions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588503" y="8125463"/>
            <a:ext cx="391163" cy="391163"/>
            <a:chOff x="0" y="0"/>
            <a:chExt cx="521551" cy="52155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094976" y="8083296"/>
            <a:ext cx="2560320" cy="512064"/>
            <a:chOff x="0" y="0"/>
            <a:chExt cx="3413760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341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Security: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94976" y="8467344"/>
            <a:ext cx="7223760" cy="402336"/>
            <a:chOff x="0" y="0"/>
            <a:chExt cx="9631680" cy="5364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image upload with malicious file prevention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Requirements &amp; Feasibility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5511803" cy="7304027"/>
            <a:chOff x="0" y="0"/>
            <a:chExt cx="7349071" cy="97387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9704832"/>
            </a:xfrm>
            <a:custGeom>
              <a:avLst/>
              <a:gdLst/>
              <a:ahLst/>
              <a:cxnLst/>
              <a:rect r="r" b="b" t="t" l="l"/>
              <a:pathLst>
                <a:path h="97048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9738614"/>
            </a:xfrm>
            <a:custGeom>
              <a:avLst/>
              <a:gdLst/>
              <a:ahLst/>
              <a:cxnLst/>
              <a:rect r="r" b="b" t="t" l="l"/>
              <a:pathLst>
                <a:path h="97386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21723"/>
                  </a:lnTo>
                  <a:cubicBezTo>
                    <a:pt x="7348982" y="9731121"/>
                    <a:pt x="7341362" y="9738614"/>
                    <a:pt x="733209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7332091" y="9704832"/>
                  </a:lnTo>
                  <a:lnTo>
                    <a:pt x="7332091" y="9721723"/>
                  </a:lnTo>
                  <a:lnTo>
                    <a:pt x="7315200" y="97217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5511803" cy="976379"/>
            <a:chOff x="0" y="0"/>
            <a:chExt cx="7349071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84859"/>
                  </a:lnTo>
                  <a:cubicBezTo>
                    <a:pt x="7348982" y="1294257"/>
                    <a:pt x="7341362" y="1301750"/>
                    <a:pt x="7332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332091" y="1267968"/>
                  </a:lnTo>
                  <a:lnTo>
                    <a:pt x="7332091" y="1284859"/>
                  </a:lnTo>
                  <a:lnTo>
                    <a:pt x="7315200" y="128485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231136"/>
            <a:ext cx="5120640" cy="914400"/>
            <a:chOff x="0" y="0"/>
            <a:chExt cx="68275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Requirements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5399" y="3370583"/>
            <a:ext cx="537467" cy="537467"/>
            <a:chOff x="0" y="0"/>
            <a:chExt cx="716623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8096" y="3383280"/>
            <a:ext cx="512064" cy="512064"/>
            <a:chOff x="0" y="0"/>
            <a:chExt cx="68275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6464" y="3346704"/>
            <a:ext cx="4389120" cy="1005840"/>
            <a:chOff x="0" y="0"/>
            <a:chExt cx="585216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 Smartphone with Camera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5399" y="4742183"/>
            <a:ext cx="537467" cy="537467"/>
            <a:chOff x="0" y="0"/>
            <a:chExt cx="716623" cy="71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8096" y="4754880"/>
            <a:ext cx="512064" cy="512064"/>
            <a:chOff x="0" y="0"/>
            <a:chExt cx="682752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26464" y="4718304"/>
            <a:ext cx="4389120" cy="1005840"/>
            <a:chOff x="0" y="0"/>
            <a:chExt cx="585216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Desktop/Laptop with Internet Access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5399" y="6113783"/>
            <a:ext cx="537467" cy="537467"/>
            <a:chOff x="0" y="0"/>
            <a:chExt cx="716623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8096" y="6126480"/>
            <a:ext cx="512064" cy="512064"/>
            <a:chOff x="0" y="0"/>
            <a:chExt cx="68275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26464" y="6089904"/>
            <a:ext cx="4389120" cy="1005840"/>
            <a:chOff x="0" y="0"/>
            <a:chExt cx="585216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Optional: Raspberry Pi / Jetson Nano for Edge Computing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479543" y="2181863"/>
            <a:ext cx="5511803" cy="7304027"/>
            <a:chOff x="0" y="0"/>
            <a:chExt cx="7349071" cy="97387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315200" cy="9704832"/>
            </a:xfrm>
            <a:custGeom>
              <a:avLst/>
              <a:gdLst/>
              <a:ahLst/>
              <a:cxnLst/>
              <a:rect r="r" b="b" t="t" l="l"/>
              <a:pathLst>
                <a:path h="97048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48982" cy="9738614"/>
            </a:xfrm>
            <a:custGeom>
              <a:avLst/>
              <a:gdLst/>
              <a:ahLst/>
              <a:cxnLst/>
              <a:rect r="r" b="b" t="t" l="l"/>
              <a:pathLst>
                <a:path h="97386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21723"/>
                  </a:lnTo>
                  <a:cubicBezTo>
                    <a:pt x="7348982" y="9731121"/>
                    <a:pt x="7341362" y="9738614"/>
                    <a:pt x="733209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7332091" y="9704832"/>
                  </a:lnTo>
                  <a:lnTo>
                    <a:pt x="7332091" y="9721723"/>
                  </a:lnTo>
                  <a:lnTo>
                    <a:pt x="7315200" y="97217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79543" y="2181863"/>
            <a:ext cx="5511803" cy="976379"/>
            <a:chOff x="0" y="0"/>
            <a:chExt cx="7349071" cy="13018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8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84859"/>
                  </a:lnTo>
                  <a:cubicBezTo>
                    <a:pt x="7348982" y="1294257"/>
                    <a:pt x="7341362" y="1301750"/>
                    <a:pt x="7332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332091" y="1267968"/>
                  </a:lnTo>
                  <a:lnTo>
                    <a:pt x="7332091" y="1284859"/>
                  </a:lnTo>
                  <a:lnTo>
                    <a:pt x="7315200" y="128485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675120" y="2231136"/>
            <a:ext cx="5120640" cy="914400"/>
            <a:chOff x="0" y="0"/>
            <a:chExt cx="682752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/ Technology Stack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07559" y="3370583"/>
            <a:ext cx="537467" cy="537467"/>
            <a:chOff x="0" y="0"/>
            <a:chExt cx="716623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620256" y="3383280"/>
            <a:ext cx="512064" cy="512064"/>
            <a:chOff x="0" y="0"/>
            <a:chExt cx="68275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78624" y="3346704"/>
            <a:ext cx="4389120" cy="1005840"/>
            <a:chOff x="0" y="0"/>
            <a:chExt cx="585216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+ TensorFlow / Keras (Model Training)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07559" y="4742183"/>
            <a:ext cx="537467" cy="537467"/>
            <a:chOff x="0" y="0"/>
            <a:chExt cx="716623" cy="71662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620256" y="4754880"/>
            <a:ext cx="512064" cy="512064"/>
            <a:chOff x="0" y="0"/>
            <a:chExt cx="682752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278624" y="4718304"/>
            <a:ext cx="4389120" cy="1005840"/>
            <a:chOff x="0" y="0"/>
            <a:chExt cx="585216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Framework (Backend REST API Server)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07559" y="6113783"/>
            <a:ext cx="537467" cy="537467"/>
            <a:chOff x="0" y="0"/>
            <a:chExt cx="716623" cy="7166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620256" y="6126480"/>
            <a:ext cx="512064" cy="512064"/>
            <a:chOff x="0" y="0"/>
            <a:chExt cx="68275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278624" y="6089904"/>
            <a:ext cx="4389120" cy="1005840"/>
            <a:chOff x="0" y="0"/>
            <a:chExt cx="585216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/ CSS / JavaScript (Frontend Interface)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607559" y="7485383"/>
            <a:ext cx="537467" cy="537467"/>
            <a:chOff x="0" y="0"/>
            <a:chExt cx="716623" cy="71662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620256" y="7498080"/>
            <a:ext cx="512064" cy="512064"/>
            <a:chOff x="0" y="0"/>
            <a:chExt cx="68275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278624" y="7461504"/>
            <a:ext cx="4389120" cy="1005840"/>
            <a:chOff x="0" y="0"/>
            <a:chExt cx="5852160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OpenCV + PIL (Image Processing Libraries)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331703" y="2181863"/>
            <a:ext cx="5511803" cy="7304027"/>
            <a:chOff x="0" y="0"/>
            <a:chExt cx="7349071" cy="97387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315200" cy="9704832"/>
            </a:xfrm>
            <a:custGeom>
              <a:avLst/>
              <a:gdLst/>
              <a:ahLst/>
              <a:cxnLst/>
              <a:rect r="r" b="b" t="t" l="l"/>
              <a:pathLst>
                <a:path h="97048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48982" cy="9738614"/>
            </a:xfrm>
            <a:custGeom>
              <a:avLst/>
              <a:gdLst/>
              <a:ahLst/>
              <a:cxnLst/>
              <a:rect r="r" b="b" t="t" l="l"/>
              <a:pathLst>
                <a:path h="97386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21723"/>
                  </a:lnTo>
                  <a:cubicBezTo>
                    <a:pt x="7348982" y="9731121"/>
                    <a:pt x="7341362" y="9738614"/>
                    <a:pt x="733209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7332091" y="9704832"/>
                  </a:lnTo>
                  <a:lnTo>
                    <a:pt x="7332091" y="9721723"/>
                  </a:lnTo>
                  <a:lnTo>
                    <a:pt x="7315200" y="97217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331703" y="2181863"/>
            <a:ext cx="5511803" cy="976379"/>
            <a:chOff x="0" y="0"/>
            <a:chExt cx="7349071" cy="130183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48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84859"/>
                  </a:lnTo>
                  <a:cubicBezTo>
                    <a:pt x="7348982" y="1294257"/>
                    <a:pt x="7341362" y="1301750"/>
                    <a:pt x="7332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332091" y="1267968"/>
                  </a:lnTo>
                  <a:lnTo>
                    <a:pt x="7332091" y="1284859"/>
                  </a:lnTo>
                  <a:lnTo>
                    <a:pt x="7315200" y="128485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527280" y="2231136"/>
            <a:ext cx="5120640" cy="914400"/>
            <a:chOff x="0" y="0"/>
            <a:chExt cx="6827520" cy="1219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Model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459719" y="3370583"/>
            <a:ext cx="537467" cy="537467"/>
            <a:chOff x="0" y="0"/>
            <a:chExt cx="716623" cy="7166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472416" y="3383280"/>
            <a:ext cx="512064" cy="512064"/>
            <a:chOff x="0" y="0"/>
            <a:chExt cx="682752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30784" y="3346704"/>
            <a:ext cx="4389120" cy="1005840"/>
            <a:chOff x="0" y="0"/>
            <a:chExt cx="5852160" cy="1341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EfficientNet-B3 (Pre-trained CNN)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459719" y="4742183"/>
            <a:ext cx="537467" cy="537467"/>
            <a:chOff x="0" y="0"/>
            <a:chExt cx="716623" cy="71662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472416" y="4754880"/>
            <a:ext cx="512064" cy="512064"/>
            <a:chOff x="0" y="0"/>
            <a:chExt cx="682752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130784" y="4718304"/>
            <a:ext cx="4389120" cy="1005840"/>
            <a:chOff x="0" y="0"/>
            <a:chExt cx="5852160" cy="13411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Fine-tuned on Silkworm Disease Dataset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459719" y="6113783"/>
            <a:ext cx="537467" cy="537467"/>
            <a:chOff x="0" y="0"/>
            <a:chExt cx="716623" cy="71662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472416" y="6126480"/>
            <a:ext cx="512064" cy="512064"/>
            <a:chOff x="0" y="0"/>
            <a:chExt cx="682752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130784" y="6089904"/>
            <a:ext cx="4389120" cy="1005840"/>
            <a:chOff x="0" y="0"/>
            <a:chExt cx="585216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 via TensorFlow Lite / ONNX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459719" y="7485383"/>
            <a:ext cx="537467" cy="537467"/>
            <a:chOff x="0" y="0"/>
            <a:chExt cx="716623" cy="71662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16534" cy="716536"/>
            </a:xfrm>
            <a:custGeom>
              <a:avLst/>
              <a:gdLst/>
              <a:ahLst/>
              <a:cxnLst/>
              <a:rect r="r" b="b" t="t" l="l"/>
              <a:pathLst>
                <a:path h="716536" w="716534">
                  <a:moveTo>
                    <a:pt x="16891" y="0"/>
                  </a:moveTo>
                  <a:lnTo>
                    <a:pt x="699643" y="0"/>
                  </a:lnTo>
                  <a:cubicBezTo>
                    <a:pt x="709041" y="0"/>
                    <a:pt x="716534" y="7620"/>
                    <a:pt x="716534" y="16891"/>
                  </a:cubicBezTo>
                  <a:lnTo>
                    <a:pt x="716534" y="699643"/>
                  </a:lnTo>
                  <a:cubicBezTo>
                    <a:pt x="716534" y="709041"/>
                    <a:pt x="708914" y="716534"/>
                    <a:pt x="69964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99643" y="682752"/>
                  </a:lnTo>
                  <a:lnTo>
                    <a:pt x="699643" y="699643"/>
                  </a:lnTo>
                  <a:lnTo>
                    <a:pt x="682752" y="699643"/>
                  </a:lnTo>
                  <a:lnTo>
                    <a:pt x="682752" y="16891"/>
                  </a:lnTo>
                  <a:lnTo>
                    <a:pt x="699643" y="16891"/>
                  </a:lnTo>
                  <a:lnTo>
                    <a:pt x="6996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472416" y="7498080"/>
            <a:ext cx="512064" cy="512064"/>
            <a:chOff x="0" y="0"/>
            <a:chExt cx="682752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130784" y="7461504"/>
            <a:ext cx="4389120" cy="1005840"/>
            <a:chOff x="0" y="0"/>
            <a:chExt cx="5852160" cy="13411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~12MB Model Size – Lightweight &amp; Efficient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27383" y="9222743"/>
            <a:ext cx="17033243" cy="537467"/>
            <a:chOff x="0" y="0"/>
            <a:chExt cx="22710991" cy="71662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22677119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2710902" cy="716536"/>
            </a:xfrm>
            <a:custGeom>
              <a:avLst/>
              <a:gdLst/>
              <a:ahLst/>
              <a:cxnLst/>
              <a:rect r="r" b="b" t="t" l="l"/>
              <a:pathLst>
                <a:path h="71653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99643"/>
                  </a:lnTo>
                  <a:cubicBezTo>
                    <a:pt x="22710902" y="709041"/>
                    <a:pt x="22703282" y="716534"/>
                    <a:pt x="2269401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694010" y="682752"/>
                  </a:lnTo>
                  <a:lnTo>
                    <a:pt x="22694010" y="699643"/>
                  </a:lnTo>
                  <a:lnTo>
                    <a:pt x="22677120" y="69964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640080" y="9235440"/>
            <a:ext cx="17007840" cy="512064"/>
            <a:chOff x="0" y="0"/>
            <a:chExt cx="2267712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Technical Feasibility: Readily achievable using current AI frameworks | ✅ Economic Feasibility: Low-cost, open-source | ✅ Operational Feasibility: Easy field adoption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Phases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Building Silk Shield Step by Step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5511803" cy="3408683"/>
            <a:chOff x="0" y="0"/>
            <a:chExt cx="7349071" cy="4544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939803" cy="3408683"/>
            <a:chOff x="0" y="0"/>
            <a:chExt cx="1253071" cy="4544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194560"/>
            <a:ext cx="914400" cy="3383280"/>
            <a:chOff x="0" y="0"/>
            <a:chExt cx="1219200" cy="4511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0784" y="2340864"/>
            <a:ext cx="4297680" cy="768096"/>
            <a:chOff x="0" y="0"/>
            <a:chExt cx="573024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 &amp; Preprocessing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0784" y="3145536"/>
            <a:ext cx="4297680" cy="694944"/>
            <a:chOff x="0" y="0"/>
            <a:chExt cx="57302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Collect labeled silkworm images (healthy + 4 diseases)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00784" y="3913632"/>
            <a:ext cx="4297680" cy="694944"/>
            <a:chOff x="0" y="0"/>
            <a:chExt cx="573024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Data augmentation: rotation, flip, zoom, brightness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00784" y="4681728"/>
            <a:ext cx="4297680" cy="694944"/>
            <a:chOff x="0" y="0"/>
            <a:chExt cx="573024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Resize to 224×224×3 for EfficientNet-B3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16119" y="2181863"/>
            <a:ext cx="5511803" cy="3408683"/>
            <a:chOff x="0" y="0"/>
            <a:chExt cx="7349071" cy="4544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16119" y="2181863"/>
            <a:ext cx="939803" cy="3408683"/>
            <a:chOff x="0" y="0"/>
            <a:chExt cx="1253071" cy="45449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28816" y="2194560"/>
            <a:ext cx="914400" cy="3383280"/>
            <a:chOff x="0" y="0"/>
            <a:chExt cx="1219200" cy="451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89520" y="2340864"/>
            <a:ext cx="4297680" cy="768096"/>
            <a:chOff x="0" y="0"/>
            <a:chExt cx="573024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Development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89520" y="3145536"/>
            <a:ext cx="4297680" cy="694944"/>
            <a:chOff x="0" y="0"/>
            <a:chExt cx="573024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Select EfficientNet-B3 pre-trained CNN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89520" y="3913632"/>
            <a:ext cx="4297680" cy="694944"/>
            <a:chOff x="0" y="0"/>
            <a:chExt cx="57302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Transfer Learning: freeze base layers, train top layers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89520" y="4681728"/>
            <a:ext cx="4297680" cy="694944"/>
            <a:chOff x="0" y="0"/>
            <a:chExt cx="573024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Evaluate: accuracy, precision, recall, F1-score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04855" y="2181863"/>
            <a:ext cx="5511803" cy="3408683"/>
            <a:chOff x="0" y="0"/>
            <a:chExt cx="7349071" cy="45449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04855" y="2181863"/>
            <a:ext cx="939803" cy="3408683"/>
            <a:chOff x="0" y="0"/>
            <a:chExt cx="1253071" cy="4544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417552" y="2194560"/>
            <a:ext cx="914400" cy="3383280"/>
            <a:chOff x="0" y="0"/>
            <a:chExt cx="1219200" cy="4511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478256" y="2340864"/>
            <a:ext cx="4297680" cy="768096"/>
            <a:chOff x="0" y="0"/>
            <a:chExt cx="573024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Development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478256" y="3145536"/>
            <a:ext cx="4297680" cy="694944"/>
            <a:chOff x="0" y="0"/>
            <a:chExt cx="573024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RESTful APIs with Flask for image uploads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478256" y="3913632"/>
            <a:ext cx="4297680" cy="694944"/>
            <a:chOff x="0" y="0"/>
            <a:chExt cx="573024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Model inference trigger and response handler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478256" y="4681728"/>
            <a:ext cx="4297680" cy="694944"/>
            <a:chOff x="0" y="0"/>
            <a:chExt cx="573024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Automated alert &amp; recommendation generation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27383" y="5839463"/>
            <a:ext cx="5511803" cy="3408683"/>
            <a:chOff x="0" y="0"/>
            <a:chExt cx="7349071" cy="45449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27383" y="5839463"/>
            <a:ext cx="939803" cy="3408683"/>
            <a:chOff x="0" y="0"/>
            <a:chExt cx="1253071" cy="45449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A7D5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7D5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5852160"/>
            <a:ext cx="914400" cy="3383280"/>
            <a:chOff x="0" y="0"/>
            <a:chExt cx="1219200" cy="4511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00784" y="5998464"/>
            <a:ext cx="4297680" cy="768096"/>
            <a:chOff x="0" y="0"/>
            <a:chExt cx="5730240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7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Development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00784" y="6803136"/>
            <a:ext cx="4297680" cy="694944"/>
            <a:chOff x="0" y="0"/>
            <a:chExt cx="573024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Mobile-friendly web UI for image upload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00784" y="7571232"/>
            <a:ext cx="4297680" cy="694944"/>
            <a:chOff x="0" y="0"/>
            <a:chExt cx="573024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Real-time disease prediction display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700784" y="8339328"/>
            <a:ext cx="4297680" cy="694944"/>
            <a:chOff x="0" y="0"/>
            <a:chExt cx="573024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Localization in regional languages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16119" y="5839463"/>
            <a:ext cx="5511803" cy="3408683"/>
            <a:chOff x="0" y="0"/>
            <a:chExt cx="7349071" cy="45449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516119" y="5839463"/>
            <a:ext cx="939803" cy="3408683"/>
            <a:chOff x="0" y="0"/>
            <a:chExt cx="1253071" cy="45449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528816" y="5852160"/>
            <a:ext cx="914400" cy="3383280"/>
            <a:chOff x="0" y="0"/>
            <a:chExt cx="1219200" cy="45110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589520" y="5998464"/>
            <a:ext cx="4297680" cy="768096"/>
            <a:chOff x="0" y="0"/>
            <a:chExt cx="5730240" cy="10241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&amp; Validation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589520" y="6803136"/>
            <a:ext cx="4297680" cy="694944"/>
            <a:chOff x="0" y="0"/>
            <a:chExt cx="573024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Field testing with farmers &amp; extension officers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589520" y="7571232"/>
            <a:ext cx="4297680" cy="694944"/>
            <a:chOff x="0" y="0"/>
            <a:chExt cx="5730240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Performance tuning from real-world feedback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589520" y="8339328"/>
            <a:ext cx="4297680" cy="694944"/>
            <a:chOff x="0" y="0"/>
            <a:chExt cx="573024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Security: block malicious file uploads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404855" y="5839463"/>
            <a:ext cx="5511803" cy="3408683"/>
            <a:chOff x="0" y="0"/>
            <a:chExt cx="7349071" cy="45449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404855" y="5839463"/>
            <a:ext cx="939803" cy="3408683"/>
            <a:chOff x="0" y="0"/>
            <a:chExt cx="1253071" cy="45449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C85A3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252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4527931"/>
                  </a:lnTo>
                  <a:cubicBezTo>
                    <a:pt x="1252982" y="4537329"/>
                    <a:pt x="1245362" y="4544822"/>
                    <a:pt x="1236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236091" y="4511040"/>
                  </a:lnTo>
                  <a:lnTo>
                    <a:pt x="1236091" y="4527931"/>
                  </a:lnTo>
                  <a:lnTo>
                    <a:pt x="1219200" y="452793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5A3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417552" y="5852160"/>
            <a:ext cx="914400" cy="3383280"/>
            <a:chOff x="0" y="0"/>
            <a:chExt cx="1219200" cy="45110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19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23" t="0" r="-42472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1219200" cy="458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478256" y="5998464"/>
            <a:ext cx="4297680" cy="768096"/>
            <a:chOff x="0" y="0"/>
            <a:chExt cx="5730240" cy="102412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7302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5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&amp; Scaling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478256" y="6803136"/>
            <a:ext cx="4297680" cy="694944"/>
            <a:chOff x="0" y="0"/>
            <a:chExt cx="5730240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Deploy on cloud/edge (TF Lite / ONNX)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478256" y="7571232"/>
            <a:ext cx="4297680" cy="694944"/>
            <a:chOff x="0" y="0"/>
            <a:chExt cx="5730240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Disease occurrence database for continuous learning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478256" y="8339328"/>
            <a:ext cx="4297680" cy="694944"/>
            <a:chOff x="0" y="0"/>
            <a:chExt cx="5730240" cy="92659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730240" cy="926592"/>
            </a:xfrm>
            <a:custGeom>
              <a:avLst/>
              <a:gdLst/>
              <a:ahLst/>
              <a:cxnLst/>
              <a:rect r="r" b="b" t="t" l="l"/>
              <a:pathLst>
                <a:path h="92659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9" r="0" b="-7049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5730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Future: IoT integration, government portals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Training Data for Silk Shield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042416"/>
            <a:ext cx="12728448" cy="943660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874503" y="2090423"/>
            <a:ext cx="5786123" cy="7340603"/>
            <a:chOff x="0" y="0"/>
            <a:chExt cx="7714831" cy="9787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76809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14742" cy="9787382"/>
            </a:xfrm>
            <a:custGeom>
              <a:avLst/>
              <a:gdLst/>
              <a:ahLst/>
              <a:cxnLst/>
              <a:rect r="r" b="b" t="t" l="l"/>
              <a:pathLst>
                <a:path h="978738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770491"/>
                  </a:lnTo>
                  <a:cubicBezTo>
                    <a:pt x="7714742" y="9779889"/>
                    <a:pt x="7707122" y="9787382"/>
                    <a:pt x="769785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7697851" y="9753600"/>
                  </a:lnTo>
                  <a:lnTo>
                    <a:pt x="7697851" y="9770491"/>
                  </a:lnTo>
                  <a:lnTo>
                    <a:pt x="7680960" y="977049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0080" y="2231136"/>
            <a:ext cx="5394960" cy="694944"/>
            <a:chOff x="0" y="0"/>
            <a:chExt cx="719328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193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Details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65943" y="3132839"/>
            <a:ext cx="5420363" cy="1031243"/>
            <a:chOff x="0" y="0"/>
            <a:chExt cx="7227151" cy="1374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71932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270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58011"/>
                  </a:lnTo>
                  <a:cubicBezTo>
                    <a:pt x="7227062" y="1367409"/>
                    <a:pt x="7219442" y="1374902"/>
                    <a:pt x="72101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210172" y="1341120"/>
                  </a:lnTo>
                  <a:lnTo>
                    <a:pt x="7210172" y="1358011"/>
                  </a:lnTo>
                  <a:lnTo>
                    <a:pt x="7193280" y="13580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0080" y="3200400"/>
            <a:ext cx="1920240" cy="822960"/>
            <a:chOff x="0" y="0"/>
            <a:chExt cx="256032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560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400 images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81760" y="3200400"/>
            <a:ext cx="3108960" cy="822960"/>
            <a:chOff x="0" y="0"/>
            <a:chExt cx="4145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14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Healthy Silkworms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965943" y="4303271"/>
            <a:ext cx="5420363" cy="1031243"/>
            <a:chOff x="0" y="0"/>
            <a:chExt cx="7227151" cy="1374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1932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70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58011"/>
                  </a:lnTo>
                  <a:cubicBezTo>
                    <a:pt x="7227062" y="1367409"/>
                    <a:pt x="7219442" y="1374902"/>
                    <a:pt x="72101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210172" y="1341120"/>
                  </a:lnTo>
                  <a:lnTo>
                    <a:pt x="7210172" y="1358011"/>
                  </a:lnTo>
                  <a:lnTo>
                    <a:pt x="7193280" y="13580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70080" y="4370832"/>
            <a:ext cx="1920240" cy="822960"/>
            <a:chOff x="0" y="0"/>
            <a:chExt cx="25603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560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350 images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81760" y="4370832"/>
            <a:ext cx="3108960" cy="822960"/>
            <a:chOff x="0" y="0"/>
            <a:chExt cx="4145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14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Infected (4 diseases)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65943" y="5473703"/>
            <a:ext cx="5420363" cy="1031243"/>
            <a:chOff x="0" y="0"/>
            <a:chExt cx="7227151" cy="1374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71932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270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58011"/>
                  </a:lnTo>
                  <a:cubicBezTo>
                    <a:pt x="7227062" y="1367409"/>
                    <a:pt x="7219442" y="1374902"/>
                    <a:pt x="72101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210172" y="1341120"/>
                  </a:lnTo>
                  <a:lnTo>
                    <a:pt x="7210172" y="1358011"/>
                  </a:lnTo>
                  <a:lnTo>
                    <a:pt x="7193280" y="13580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70080" y="5541264"/>
            <a:ext cx="1920240" cy="822960"/>
            <a:chOff x="0" y="0"/>
            <a:chExt cx="256032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560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 images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81760" y="5541264"/>
            <a:ext cx="3108960" cy="822960"/>
            <a:chOff x="0" y="0"/>
            <a:chExt cx="4145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14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High-Quality Cocoons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65943" y="6644135"/>
            <a:ext cx="5420363" cy="1031243"/>
            <a:chOff x="0" y="0"/>
            <a:chExt cx="7227151" cy="1374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1932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270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58011"/>
                  </a:lnTo>
                  <a:cubicBezTo>
                    <a:pt x="7227062" y="1367409"/>
                    <a:pt x="7219442" y="1374902"/>
                    <a:pt x="72101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210172" y="1341120"/>
                  </a:lnTo>
                  <a:lnTo>
                    <a:pt x="7210172" y="1358011"/>
                  </a:lnTo>
                  <a:lnTo>
                    <a:pt x="7193280" y="13580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070080" y="6711696"/>
            <a:ext cx="1920240" cy="822960"/>
            <a:chOff x="0" y="0"/>
            <a:chExt cx="256032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2560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85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150 images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81760" y="6711696"/>
            <a:ext cx="3108960" cy="822960"/>
            <a:chOff x="0" y="0"/>
            <a:chExt cx="414528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14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Low-Quality Cocoons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65943" y="7814567"/>
            <a:ext cx="5420363" cy="1031243"/>
            <a:chOff x="0" y="0"/>
            <a:chExt cx="7227151" cy="13749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1932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270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58011"/>
                  </a:lnTo>
                  <a:cubicBezTo>
                    <a:pt x="7227062" y="1367409"/>
                    <a:pt x="7219442" y="1374902"/>
                    <a:pt x="72101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210172" y="1341120"/>
                  </a:lnTo>
                  <a:lnTo>
                    <a:pt x="7210172" y="1358011"/>
                  </a:lnTo>
                  <a:lnTo>
                    <a:pt x="7193280" y="13580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70080" y="7882128"/>
            <a:ext cx="1920240" cy="822960"/>
            <a:chOff x="0" y="0"/>
            <a:chExt cx="256032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600 entries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081760" y="7882128"/>
            <a:ext cx="3108960" cy="822960"/>
            <a:chOff x="0" y="0"/>
            <a:chExt cx="414528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4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14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Environmental Data Points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78640" y="8321040"/>
            <a:ext cx="5486400" cy="950976"/>
            <a:chOff x="0" y="0"/>
            <a:chExt cx="7315200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315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+ 600 environmental data entries for cocoon optimization models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Accuracy Progression During Training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EfficientNet-B3 Training Results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02336" y="969264"/>
            <a:ext cx="13606272" cy="9582912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2514583" y="2090423"/>
            <a:ext cx="5146043" cy="7340603"/>
            <a:chOff x="0" y="0"/>
            <a:chExt cx="6861391" cy="9787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6827520" cy="9753600"/>
            </a:xfrm>
            <a:custGeom>
              <a:avLst/>
              <a:gdLst/>
              <a:ahLst/>
              <a:cxnLst/>
              <a:rect r="r" b="b" t="t" l="l"/>
              <a:pathLst>
                <a:path h="9753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1301" cy="9787382"/>
            </a:xfrm>
            <a:custGeom>
              <a:avLst/>
              <a:gdLst/>
              <a:ahLst/>
              <a:cxnLst/>
              <a:rect r="r" b="b" t="t" l="l"/>
              <a:pathLst>
                <a:path h="97873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770491"/>
                  </a:lnTo>
                  <a:cubicBezTo>
                    <a:pt x="6861301" y="9779889"/>
                    <a:pt x="6853682" y="9787382"/>
                    <a:pt x="684441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6844411" y="9753600"/>
                  </a:lnTo>
                  <a:lnTo>
                    <a:pt x="6844411" y="9770491"/>
                  </a:lnTo>
                  <a:lnTo>
                    <a:pt x="6827520" y="97704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10160" y="2231136"/>
            <a:ext cx="4754880" cy="694944"/>
            <a:chOff x="0" y="0"/>
            <a:chExt cx="633984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3398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Milestones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06023" y="3132839"/>
            <a:ext cx="4871723" cy="1086107"/>
            <a:chOff x="0" y="0"/>
            <a:chExt cx="6495631" cy="14481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64617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955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431163"/>
                  </a:lnTo>
                  <a:cubicBezTo>
                    <a:pt x="6495542" y="1440561"/>
                    <a:pt x="6487922" y="1448054"/>
                    <a:pt x="64786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478651" y="1414272"/>
                  </a:lnTo>
                  <a:lnTo>
                    <a:pt x="6478651" y="1431163"/>
                  </a:lnTo>
                  <a:lnTo>
                    <a:pt x="6461760" y="1431163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10160" y="3200400"/>
            <a:ext cx="1828800" cy="914400"/>
            <a:chOff x="0" y="0"/>
            <a:chExt cx="24384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438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~58%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630400" y="3200400"/>
            <a:ext cx="2651760" cy="914400"/>
            <a:chOff x="0" y="0"/>
            <a:chExt cx="353568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535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Accuracy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(Epoch 0)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06023" y="4376423"/>
            <a:ext cx="4871723" cy="1086107"/>
            <a:chOff x="0" y="0"/>
            <a:chExt cx="6495631" cy="14481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64617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55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431163"/>
                  </a:lnTo>
                  <a:cubicBezTo>
                    <a:pt x="6495542" y="1440561"/>
                    <a:pt x="6487922" y="1448054"/>
                    <a:pt x="64786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478651" y="1414272"/>
                  </a:lnTo>
                  <a:lnTo>
                    <a:pt x="6478651" y="1431163"/>
                  </a:lnTo>
                  <a:lnTo>
                    <a:pt x="6461760" y="1431163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10160" y="4443984"/>
            <a:ext cx="1828800" cy="914400"/>
            <a:chOff x="0" y="0"/>
            <a:chExt cx="24384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438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98.2%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30400" y="4443984"/>
            <a:ext cx="2651760" cy="914400"/>
            <a:chOff x="0" y="0"/>
            <a:chExt cx="353568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535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Training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06023" y="5620007"/>
            <a:ext cx="4871723" cy="1086107"/>
            <a:chOff x="0" y="0"/>
            <a:chExt cx="6495631" cy="14481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64617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55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431163"/>
                  </a:lnTo>
                  <a:cubicBezTo>
                    <a:pt x="6495542" y="1440561"/>
                    <a:pt x="6487922" y="1448054"/>
                    <a:pt x="64786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478651" y="1414272"/>
                  </a:lnTo>
                  <a:lnTo>
                    <a:pt x="6478651" y="1431163"/>
                  </a:lnTo>
                  <a:lnTo>
                    <a:pt x="6461760" y="1431163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710160" y="5687568"/>
            <a:ext cx="1828800" cy="914400"/>
            <a:chOff x="0" y="0"/>
            <a:chExt cx="24384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438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97.5%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30400" y="5687568"/>
            <a:ext cx="2651760" cy="914400"/>
            <a:chOff x="0" y="0"/>
            <a:chExt cx="353568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535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606023" y="6863591"/>
            <a:ext cx="4871723" cy="1086107"/>
            <a:chOff x="0" y="0"/>
            <a:chExt cx="6495631" cy="14481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64617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55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431163"/>
                  </a:lnTo>
                  <a:cubicBezTo>
                    <a:pt x="6495542" y="1440561"/>
                    <a:pt x="6487922" y="1448054"/>
                    <a:pt x="64786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478651" y="1414272"/>
                  </a:lnTo>
                  <a:lnTo>
                    <a:pt x="6478651" y="1431163"/>
                  </a:lnTo>
                  <a:lnTo>
                    <a:pt x="6461760" y="1431163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710160" y="6931152"/>
            <a:ext cx="1828800" cy="914400"/>
            <a:chOff x="0" y="0"/>
            <a:chExt cx="24384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438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~0.09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30400" y="6931152"/>
            <a:ext cx="2651760" cy="914400"/>
            <a:chOff x="0" y="0"/>
            <a:chExt cx="353568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535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Validation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606023" y="8107175"/>
            <a:ext cx="4871723" cy="1086107"/>
            <a:chOff x="0" y="0"/>
            <a:chExt cx="6495631" cy="14481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64617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955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431163"/>
                  </a:lnTo>
                  <a:cubicBezTo>
                    <a:pt x="6495542" y="1440561"/>
                    <a:pt x="6487922" y="1448054"/>
                    <a:pt x="64786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478651" y="1414272"/>
                  </a:lnTo>
                  <a:lnTo>
                    <a:pt x="6478651" y="1431163"/>
                  </a:lnTo>
                  <a:lnTo>
                    <a:pt x="6461760" y="1431163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710160" y="8174736"/>
            <a:ext cx="1828800" cy="914400"/>
            <a:chOff x="0" y="0"/>
            <a:chExt cx="24384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2438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1 sec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630400" y="8174736"/>
            <a:ext cx="2651760" cy="914400"/>
            <a:chOff x="0" y="0"/>
            <a:chExt cx="353568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535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Speed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 – Model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Near-Perfect Classification Results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31520" y="2194560"/>
          <a:ext cx="10160000" cy="5791200"/>
        </p:xfrm>
        <a:graphic>
          <a:graphicData uri="http://schemas.openxmlformats.org/drawingml/2006/table">
            <a:tbl>
              <a:tblPr/>
              <a:tblGrid>
                <a:gridCol w="2515530"/>
                <a:gridCol w="1528894"/>
                <a:gridCol w="1528894"/>
                <a:gridCol w="1528894"/>
                <a:gridCol w="1528894"/>
                <a:gridCol w="1528894"/>
              </a:tblGrid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True \ Pred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Healthy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Grasserie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Muscardine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Flacherie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Pebrine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Healthy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Grasserie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Muscardine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Flacherie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Pebrine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E76F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1325863" y="2181863"/>
            <a:ext cx="6334763" cy="5877563"/>
            <a:chOff x="0" y="0"/>
            <a:chExt cx="8446351" cy="78367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84124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8412481">
                  <a:moveTo>
                    <a:pt x="0" y="0"/>
                  </a:moveTo>
                  <a:lnTo>
                    <a:pt x="8412481" y="0"/>
                  </a:lnTo>
                  <a:lnTo>
                    <a:pt x="8412481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462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8446262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7819772"/>
                  </a:lnTo>
                  <a:cubicBezTo>
                    <a:pt x="8446262" y="7829169"/>
                    <a:pt x="8438642" y="7836662"/>
                    <a:pt x="8429372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8429372" y="7802880"/>
                  </a:lnTo>
                  <a:lnTo>
                    <a:pt x="8429372" y="7819772"/>
                  </a:lnTo>
                  <a:lnTo>
                    <a:pt x="8412480" y="7819772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21440" y="2286000"/>
            <a:ext cx="5943600" cy="694944"/>
            <a:chOff x="0" y="0"/>
            <a:chExt cx="79248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24800" cy="926592"/>
            </a:xfrm>
            <a:custGeom>
              <a:avLst/>
              <a:gdLst/>
              <a:ahLst/>
              <a:cxnLst/>
              <a:rect r="r" b="b" t="t" l="l"/>
              <a:pathLst>
                <a:path h="92659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924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Class-Wise Results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17303" y="3096263"/>
            <a:ext cx="6060443" cy="793499"/>
            <a:chOff x="0" y="0"/>
            <a:chExt cx="8080591" cy="1057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80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041019"/>
                  </a:lnTo>
                  <a:cubicBezTo>
                    <a:pt x="8080501" y="1050417"/>
                    <a:pt x="8072882" y="1057910"/>
                    <a:pt x="8063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063611" y="1024128"/>
                  </a:lnTo>
                  <a:lnTo>
                    <a:pt x="8063611" y="1041019"/>
                  </a:lnTo>
                  <a:lnTo>
                    <a:pt x="8046720" y="104101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21440" y="3145536"/>
            <a:ext cx="2743200" cy="694944"/>
            <a:chOff x="0" y="0"/>
            <a:chExt cx="365760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657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0 – Healthy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356080" y="3145536"/>
            <a:ext cx="1371600" cy="694944"/>
            <a:chOff x="0" y="0"/>
            <a:chExt cx="18288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82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120/120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19120" y="3145536"/>
            <a:ext cx="1463040" cy="694944"/>
            <a:chOff x="0" y="0"/>
            <a:chExt cx="195072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50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17303" y="3974087"/>
            <a:ext cx="6060443" cy="793499"/>
            <a:chOff x="0" y="0"/>
            <a:chExt cx="8080591" cy="1057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80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041019"/>
                  </a:lnTo>
                  <a:cubicBezTo>
                    <a:pt x="8080501" y="1050417"/>
                    <a:pt x="8072882" y="1057910"/>
                    <a:pt x="8063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063611" y="1024128"/>
                  </a:lnTo>
                  <a:lnTo>
                    <a:pt x="8063611" y="1041019"/>
                  </a:lnTo>
                  <a:lnTo>
                    <a:pt x="8046720" y="104101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521440" y="4023360"/>
            <a:ext cx="2743200" cy="694944"/>
            <a:chOff x="0" y="0"/>
            <a:chExt cx="365760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657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1 – Grasserie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356080" y="4023360"/>
            <a:ext cx="1371600" cy="694944"/>
            <a:chOff x="0" y="0"/>
            <a:chExt cx="1828800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82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85/86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819120" y="4023360"/>
            <a:ext cx="1463040" cy="694944"/>
            <a:chOff x="0" y="0"/>
            <a:chExt cx="1950720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950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98.8%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17303" y="4851911"/>
            <a:ext cx="6060443" cy="793499"/>
            <a:chOff x="0" y="0"/>
            <a:chExt cx="8080591" cy="10579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80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041019"/>
                  </a:lnTo>
                  <a:cubicBezTo>
                    <a:pt x="8080501" y="1050417"/>
                    <a:pt x="8072882" y="1057910"/>
                    <a:pt x="8063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063611" y="1024128"/>
                  </a:lnTo>
                  <a:lnTo>
                    <a:pt x="8063611" y="1041019"/>
                  </a:lnTo>
                  <a:lnTo>
                    <a:pt x="8046720" y="104101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1440" y="4901184"/>
            <a:ext cx="2743200" cy="694944"/>
            <a:chOff x="0" y="0"/>
            <a:chExt cx="365760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657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2 – Muscardine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356080" y="4901184"/>
            <a:ext cx="1371600" cy="694944"/>
            <a:chOff x="0" y="0"/>
            <a:chExt cx="182880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82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95/95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819120" y="4901184"/>
            <a:ext cx="1463040" cy="694944"/>
            <a:chOff x="0" y="0"/>
            <a:chExt cx="195072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950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17303" y="5729735"/>
            <a:ext cx="6060443" cy="793499"/>
            <a:chOff x="0" y="0"/>
            <a:chExt cx="8080591" cy="10579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80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041019"/>
                  </a:lnTo>
                  <a:cubicBezTo>
                    <a:pt x="8080501" y="1050417"/>
                    <a:pt x="8072882" y="1057910"/>
                    <a:pt x="8063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063611" y="1024128"/>
                  </a:lnTo>
                  <a:lnTo>
                    <a:pt x="8063611" y="1041019"/>
                  </a:lnTo>
                  <a:lnTo>
                    <a:pt x="8046720" y="104101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521440" y="5779008"/>
            <a:ext cx="2743200" cy="694944"/>
            <a:chOff x="0" y="0"/>
            <a:chExt cx="365760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57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3 – Flacherie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56080" y="5779008"/>
            <a:ext cx="1371600" cy="694944"/>
            <a:chOff x="0" y="0"/>
            <a:chExt cx="182880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82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87/88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819120" y="5779008"/>
            <a:ext cx="1463040" cy="694944"/>
            <a:chOff x="0" y="0"/>
            <a:chExt cx="195072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950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98.9%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417303" y="6607559"/>
            <a:ext cx="6060443" cy="793499"/>
            <a:chOff x="0" y="0"/>
            <a:chExt cx="8080591" cy="10579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0805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041019"/>
                  </a:lnTo>
                  <a:cubicBezTo>
                    <a:pt x="8080501" y="1050417"/>
                    <a:pt x="8072882" y="1057910"/>
                    <a:pt x="80636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063611" y="1024128"/>
                  </a:lnTo>
                  <a:lnTo>
                    <a:pt x="8063611" y="1041019"/>
                  </a:lnTo>
                  <a:lnTo>
                    <a:pt x="8046720" y="104101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521440" y="6656832"/>
            <a:ext cx="2743200" cy="694944"/>
            <a:chOff x="0" y="0"/>
            <a:chExt cx="365760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3657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4 – Pebrine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356080" y="6656832"/>
            <a:ext cx="1371600" cy="694944"/>
            <a:chOff x="0" y="0"/>
            <a:chExt cx="1828800" cy="9265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82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80/81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819120" y="6656832"/>
            <a:ext cx="1463040" cy="694944"/>
            <a:chOff x="0" y="0"/>
            <a:chExt cx="195072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950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98.8%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18823" y="8253479"/>
            <a:ext cx="16941803" cy="976379"/>
            <a:chOff x="0" y="0"/>
            <a:chExt cx="22589071" cy="130183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22555199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588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284859"/>
                  </a:lnTo>
                  <a:cubicBezTo>
                    <a:pt x="22588982" y="1294257"/>
                    <a:pt x="22581363" y="1301750"/>
                    <a:pt x="22572090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2572090" y="1267968"/>
                  </a:lnTo>
                  <a:lnTo>
                    <a:pt x="22572090" y="1284859"/>
                  </a:lnTo>
                  <a:lnTo>
                    <a:pt x="22555200" y="128485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31520" y="8266176"/>
            <a:ext cx="16916400" cy="950976"/>
            <a:chOff x="0" y="0"/>
            <a:chExt cx="22555200" cy="12679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55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608" r="0" b="-29660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2255520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Total Classification Error Rate: &lt; 1%  |  Near-Perfect Multi-Class Disease Detection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Metrics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 Summary – Silkworm Detection vs Cocoon Optimization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31520" y="2194560"/>
          <a:ext cx="10007600" cy="7086600"/>
        </p:xfrm>
        <a:graphic>
          <a:graphicData uri="http://schemas.openxmlformats.org/drawingml/2006/table">
            <a:tbl>
              <a:tblPr/>
              <a:tblGrid>
                <a:gridCol w="3993082"/>
                <a:gridCol w="3007259"/>
                <a:gridCol w="3007259"/>
              </a:tblGrid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Silkworm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Cocoon Optimization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96% – 98%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 – 97%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97.4%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96.3%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 (Sensitivity)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96.8%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95.7%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97.1%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 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~12 MB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~13 MB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Inference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~50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~60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Validation Loss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~0.09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~0.11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Device Compatibility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Raspberry Pi, Jetson Nano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3C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Server/Cloud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1234423" y="2181863"/>
            <a:ext cx="3170939" cy="3353819"/>
            <a:chOff x="0" y="0"/>
            <a:chExt cx="4227919" cy="44717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41940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27830" cy="4471670"/>
            </a:xfrm>
            <a:custGeom>
              <a:avLst/>
              <a:gdLst/>
              <a:ahLst/>
              <a:cxnLst/>
              <a:rect r="r" b="b" t="t" l="l"/>
              <a:pathLst>
                <a:path h="4471670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4454779"/>
                  </a:lnTo>
                  <a:cubicBezTo>
                    <a:pt x="4227830" y="4464177"/>
                    <a:pt x="4220210" y="4471670"/>
                    <a:pt x="4210939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4210939" y="4437888"/>
                  </a:lnTo>
                  <a:lnTo>
                    <a:pt x="4210939" y="4454779"/>
                  </a:lnTo>
                  <a:lnTo>
                    <a:pt x="4194048" y="445477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47120" y="2743200"/>
            <a:ext cx="3145536" cy="1554480"/>
            <a:chOff x="0" y="0"/>
            <a:chExt cx="4194048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4048" cy="2072640"/>
            </a:xfrm>
            <a:custGeom>
              <a:avLst/>
              <a:gdLst/>
              <a:ahLst/>
              <a:cxnLst/>
              <a:rect r="r" b="b" t="t" l="l"/>
              <a:pathLst>
                <a:path h="20726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05" t="0" r="-1340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4194048" cy="2186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98.2%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47120" y="4389120"/>
            <a:ext cx="3145536" cy="822960"/>
            <a:chOff x="0" y="0"/>
            <a:chExt cx="4194048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94048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6" r="0" b="-244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19404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Accuracy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562839" y="2181863"/>
            <a:ext cx="3170939" cy="3353819"/>
            <a:chOff x="0" y="0"/>
            <a:chExt cx="4227919" cy="4471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41940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27830" cy="4471670"/>
            </a:xfrm>
            <a:custGeom>
              <a:avLst/>
              <a:gdLst/>
              <a:ahLst/>
              <a:cxnLst/>
              <a:rect r="r" b="b" t="t" l="l"/>
              <a:pathLst>
                <a:path h="4471670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4454779"/>
                  </a:lnTo>
                  <a:cubicBezTo>
                    <a:pt x="4227830" y="4464177"/>
                    <a:pt x="4220210" y="4471670"/>
                    <a:pt x="4210939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4210939" y="4437888"/>
                  </a:lnTo>
                  <a:lnTo>
                    <a:pt x="4210939" y="4454779"/>
                  </a:lnTo>
                  <a:lnTo>
                    <a:pt x="4194048" y="445477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575536" y="2743200"/>
            <a:ext cx="3145536" cy="1554480"/>
            <a:chOff x="0" y="0"/>
            <a:chExt cx="4194048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94048" cy="2072640"/>
            </a:xfrm>
            <a:custGeom>
              <a:avLst/>
              <a:gdLst/>
              <a:ahLst/>
              <a:cxnLst/>
              <a:rect r="r" b="b" t="t" l="l"/>
              <a:pathLst>
                <a:path h="20726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05" t="0" r="-1340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4194048" cy="2186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97.5%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575536" y="4389120"/>
            <a:ext cx="3145536" cy="822960"/>
            <a:chOff x="0" y="0"/>
            <a:chExt cx="4194048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4048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6" r="0" b="-244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19404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Accuracy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34423" y="5839463"/>
            <a:ext cx="3170939" cy="3353819"/>
            <a:chOff x="0" y="0"/>
            <a:chExt cx="4227919" cy="44717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41940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27830" cy="4471670"/>
            </a:xfrm>
            <a:custGeom>
              <a:avLst/>
              <a:gdLst/>
              <a:ahLst/>
              <a:cxnLst/>
              <a:rect r="r" b="b" t="t" l="l"/>
              <a:pathLst>
                <a:path h="4471670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4454779"/>
                  </a:lnTo>
                  <a:cubicBezTo>
                    <a:pt x="4227830" y="4464177"/>
                    <a:pt x="4220210" y="4471670"/>
                    <a:pt x="4210939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4210939" y="4437888"/>
                  </a:lnTo>
                  <a:lnTo>
                    <a:pt x="4210939" y="4454779"/>
                  </a:lnTo>
                  <a:lnTo>
                    <a:pt x="4194048" y="445477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0" y="6400800"/>
            <a:ext cx="3145536" cy="1554480"/>
            <a:chOff x="0" y="0"/>
            <a:chExt cx="4194048" cy="2072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4048" cy="2072640"/>
            </a:xfrm>
            <a:custGeom>
              <a:avLst/>
              <a:gdLst/>
              <a:ahLst/>
              <a:cxnLst/>
              <a:rect r="r" b="b" t="t" l="l"/>
              <a:pathLst>
                <a:path h="20726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05" t="0" r="-1340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14300"/>
              <a:ext cx="4194048" cy="2186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97.1%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247120" y="8046720"/>
            <a:ext cx="3145536" cy="822960"/>
            <a:chOff x="0" y="0"/>
            <a:chExt cx="4194048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4048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6" r="0" b="-244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19404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562839" y="5839463"/>
            <a:ext cx="3170939" cy="3353819"/>
            <a:chOff x="0" y="0"/>
            <a:chExt cx="4227919" cy="44717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41940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27830" cy="4471670"/>
            </a:xfrm>
            <a:custGeom>
              <a:avLst/>
              <a:gdLst/>
              <a:ahLst/>
              <a:cxnLst/>
              <a:rect r="r" b="b" t="t" l="l"/>
              <a:pathLst>
                <a:path h="4471670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4454779"/>
                  </a:lnTo>
                  <a:cubicBezTo>
                    <a:pt x="4227830" y="4464177"/>
                    <a:pt x="4220210" y="4471670"/>
                    <a:pt x="4210939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4210939" y="4437888"/>
                  </a:lnTo>
                  <a:lnTo>
                    <a:pt x="4210939" y="4454779"/>
                  </a:lnTo>
                  <a:lnTo>
                    <a:pt x="4194048" y="445477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75536" y="6400800"/>
            <a:ext cx="3145536" cy="1554480"/>
            <a:chOff x="0" y="0"/>
            <a:chExt cx="4194048" cy="2072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94048" cy="2072640"/>
            </a:xfrm>
            <a:custGeom>
              <a:avLst/>
              <a:gdLst/>
              <a:ahLst/>
              <a:cxnLst/>
              <a:rect r="r" b="b" t="t" l="l"/>
              <a:pathLst>
                <a:path h="20726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05" t="0" r="-1340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4194048" cy="2186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&lt;1 sec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575536" y="8046720"/>
            <a:ext cx="3145536" cy="822960"/>
            <a:chOff x="0" y="0"/>
            <a:chExt cx="4194048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94048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6" r="0" b="-244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19404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Speed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8823" y="9222743"/>
            <a:ext cx="16941803" cy="537467"/>
            <a:chOff x="0" y="0"/>
            <a:chExt cx="22589071" cy="7166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2555199" cy="682752"/>
            </a:xfrm>
            <a:custGeom>
              <a:avLst/>
              <a:gdLst/>
              <a:ahLst/>
              <a:cxnLst/>
              <a:rect r="r" b="b" t="t" l="l"/>
              <a:pathLst>
                <a:path h="682752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588982" cy="716536"/>
            </a:xfrm>
            <a:custGeom>
              <a:avLst/>
              <a:gdLst/>
              <a:ahLst/>
              <a:cxnLst/>
              <a:rect r="r" b="b" t="t" l="l"/>
              <a:pathLst>
                <a:path h="716536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699643"/>
                  </a:lnTo>
                  <a:cubicBezTo>
                    <a:pt x="22588982" y="709041"/>
                    <a:pt x="22581363" y="716534"/>
                    <a:pt x="2257209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572090" y="682752"/>
                  </a:lnTo>
                  <a:lnTo>
                    <a:pt x="22572090" y="699643"/>
                  </a:lnTo>
                  <a:lnTo>
                    <a:pt x="22555200" y="699643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1520" y="9235440"/>
            <a:ext cx="16916400" cy="512064"/>
            <a:chOff x="0" y="0"/>
            <a:chExt cx="2255520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55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702" r="0" b="-5937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255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EfficientNet-B3 outperforms traditional CNNs (VGG16, ResNet50) while being significantly lighter and faster.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Testing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Comprehensive Testing Framework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8255003" cy="2622299"/>
            <a:chOff x="0" y="0"/>
            <a:chExt cx="11006671" cy="34963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1159259" cy="2622299"/>
            <a:chOff x="0" y="0"/>
            <a:chExt cx="1545679" cy="34963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194560"/>
            <a:ext cx="1133856" cy="2596896"/>
            <a:chOff x="0" y="0"/>
            <a:chExt cx="1511808" cy="3462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✔️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240" y="2377440"/>
            <a:ext cx="6766560" cy="694944"/>
            <a:chOff x="0" y="0"/>
            <a:chExt cx="90220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Testing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11680" y="3107055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Image upload form, CNN prediction function, REST API endpoints, alert generation logic tested in isolation.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14183" y="2181863"/>
            <a:ext cx="8255003" cy="2622299"/>
            <a:chOff x="0" y="0"/>
            <a:chExt cx="11006671" cy="34963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14183" y="2181863"/>
            <a:ext cx="1159259" cy="2622299"/>
            <a:chOff x="0" y="0"/>
            <a:chExt cx="1545679" cy="34963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2194560"/>
            <a:ext cx="1133856" cy="2596896"/>
            <a:chOff x="0" y="0"/>
            <a:chExt cx="1511808" cy="34625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07040" y="2377440"/>
            <a:ext cx="6766560" cy="694944"/>
            <a:chOff x="0" y="0"/>
            <a:chExt cx="902208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Testing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698480" y="3107055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↔ Backend API ↔ ML Model ↔ Database interactions verified end-to-end.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27383" y="5071367"/>
            <a:ext cx="8255003" cy="2622299"/>
            <a:chOff x="0" y="0"/>
            <a:chExt cx="11006671" cy="34963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7383" y="5071367"/>
            <a:ext cx="1159259" cy="2622299"/>
            <a:chOff x="0" y="0"/>
            <a:chExt cx="1545679" cy="34963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080" y="5084064"/>
            <a:ext cx="1133856" cy="2596896"/>
            <a:chOff x="0" y="0"/>
            <a:chExt cx="1511808" cy="34625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🖥️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20240" y="5266944"/>
            <a:ext cx="6766560" cy="694944"/>
            <a:chOff x="0" y="0"/>
            <a:chExt cx="902208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Testing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011680" y="5996559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 workflow: Upload image → Disease classified → Alert/recommendation displayed.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314183" y="5071367"/>
            <a:ext cx="8255003" cy="2622299"/>
            <a:chOff x="0" y="0"/>
            <a:chExt cx="11006671" cy="34963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14183" y="5071367"/>
            <a:ext cx="1159259" cy="2622299"/>
            <a:chOff x="0" y="0"/>
            <a:chExt cx="1545679" cy="34963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3A7D5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7D5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5084064"/>
            <a:ext cx="1133856" cy="2596896"/>
            <a:chOff x="0" y="0"/>
            <a:chExt cx="1511808" cy="34625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07040" y="5266944"/>
            <a:ext cx="6766560" cy="694944"/>
            <a:chOff x="0" y="0"/>
            <a:chExt cx="902208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7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Testing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698480" y="5996559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Image prediction time &lt; 1 second. Inference 1.6-1.7 sec on slow networks. Server response under load.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27383" y="7960871"/>
            <a:ext cx="8255003" cy="2622299"/>
            <a:chOff x="0" y="0"/>
            <a:chExt cx="11006671" cy="34963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27383" y="7960871"/>
            <a:ext cx="1159259" cy="2622299"/>
            <a:chOff x="0" y="0"/>
            <a:chExt cx="1545679" cy="34963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0080" y="7973568"/>
            <a:ext cx="1133856" cy="2596896"/>
            <a:chOff x="0" y="0"/>
            <a:chExt cx="1511808" cy="34625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👤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920240" y="8156448"/>
            <a:ext cx="6766560" cy="694944"/>
            <a:chOff x="0" y="0"/>
            <a:chExt cx="9022080" cy="9265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Testing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2011680" y="8886063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Field tests with small/large-scale farmers &amp; extension officers. Multilingual UI verified in Kannada, Tamil.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314183" y="7960871"/>
            <a:ext cx="8255003" cy="2622299"/>
            <a:chOff x="0" y="0"/>
            <a:chExt cx="11006671" cy="349639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097280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006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479419"/>
                  </a:lnTo>
                  <a:cubicBezTo>
                    <a:pt x="11006582" y="3488817"/>
                    <a:pt x="10998962" y="3496310"/>
                    <a:pt x="1098969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0989691" y="3462528"/>
                  </a:lnTo>
                  <a:lnTo>
                    <a:pt x="10989691" y="3479419"/>
                  </a:lnTo>
                  <a:lnTo>
                    <a:pt x="10972800" y="34794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314183" y="7960871"/>
            <a:ext cx="1159259" cy="2622299"/>
            <a:chOff x="0" y="0"/>
            <a:chExt cx="1545679" cy="34963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C85A38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45590" cy="3496310"/>
            </a:xfrm>
            <a:custGeom>
              <a:avLst/>
              <a:gdLst/>
              <a:ahLst/>
              <a:cxnLst/>
              <a:rect r="r" b="b" t="t" l="l"/>
              <a:pathLst>
                <a:path h="3496310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3479419"/>
                  </a:lnTo>
                  <a:cubicBezTo>
                    <a:pt x="1545590" y="3488817"/>
                    <a:pt x="1537970" y="3496310"/>
                    <a:pt x="1528699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528699" y="3462528"/>
                  </a:lnTo>
                  <a:lnTo>
                    <a:pt x="1528699" y="3479419"/>
                  </a:lnTo>
                  <a:lnTo>
                    <a:pt x="1511808" y="3479419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5A3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7973568"/>
            <a:ext cx="1133856" cy="2596896"/>
            <a:chOff x="0" y="0"/>
            <a:chExt cx="1511808" cy="34625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118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856" t="0" r="-243856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76200"/>
              <a:ext cx="1511808" cy="3538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07040" y="8156448"/>
            <a:ext cx="6766560" cy="694944"/>
            <a:chOff x="0" y="0"/>
            <a:chExt cx="9022080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9022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85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Testing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0698480" y="8886063"/>
            <a:ext cx="65836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image upload validated. Malicious file types (.pdf, .txt) blocked. Authentication &amp; data protection.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Test Cases – Key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Test Cases Passed ✅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40080" y="2194560"/>
          <a:ext cx="15113000" cy="7264400"/>
        </p:xfrm>
        <a:graphic>
          <a:graphicData uri="http://schemas.openxmlformats.org/drawingml/2006/table">
            <a:tbl>
              <a:tblPr/>
              <a:tblGrid>
                <a:gridCol w="1571991"/>
                <a:gridCol w="2377885"/>
                <a:gridCol w="5064198"/>
                <a:gridCol w="3452410"/>
                <a:gridCol w="2646516"/>
              </a:tblGrid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IU01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Image Upload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Upload valid JPG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silkworm.jpg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IU02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Image Upload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Upload unsupported file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silkworm.pdf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DD01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Disease 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 disease for infected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Flacherie worm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DD02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Disease 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 disease for healthy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Healthy silkworm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DD05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Disease 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 inference timing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Image 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1.6 sec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Alert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Display treatment for Grasserie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Grasserie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UI04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UI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Language switch to Hindi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Select Hindi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SYS01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Full workflow with Grasserie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infected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SYS05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Prediction latency check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image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1.7 sec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UTS03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 Testing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D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Usability for limited digital literacy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6B7D7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Simple UI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&amp; Risk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Technical, Economic &amp; Operational Evaluation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8346443" cy="3463547"/>
            <a:chOff x="0" y="0"/>
            <a:chExt cx="11128591" cy="4618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4617974"/>
            </a:xfrm>
            <a:custGeom>
              <a:avLst/>
              <a:gdLst/>
              <a:ahLst/>
              <a:cxnLst/>
              <a:rect r="r" b="b" t="t" l="l"/>
              <a:pathLst>
                <a:path h="461797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01083"/>
                  </a:lnTo>
                  <a:cubicBezTo>
                    <a:pt x="11128501" y="4610481"/>
                    <a:pt x="11120882" y="4617974"/>
                    <a:pt x="1111161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1111611" y="4584192"/>
                  </a:lnTo>
                  <a:lnTo>
                    <a:pt x="11111611" y="4601083"/>
                  </a:lnTo>
                  <a:lnTo>
                    <a:pt x="11094720" y="46010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8346443" cy="848363"/>
            <a:chOff x="0" y="0"/>
            <a:chExt cx="11128591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9536" y="2194560"/>
            <a:ext cx="6949440" cy="822960"/>
            <a:chOff x="0" y="0"/>
            <a:chExt cx="92659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📉 Data Availability Risk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23127" y="2328167"/>
            <a:ext cx="1086107" cy="537467"/>
            <a:chOff x="0" y="0"/>
            <a:chExt cx="1448143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8A02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8054" cy="716536"/>
            </a:xfrm>
            <a:custGeom>
              <a:avLst/>
              <a:gdLst/>
              <a:ahLst/>
              <a:cxnLst/>
              <a:rect r="r" b="b" t="t" l="l"/>
              <a:pathLst>
                <a:path h="716536" w="1448054">
                  <a:moveTo>
                    <a:pt x="16891" y="0"/>
                  </a:moveTo>
                  <a:lnTo>
                    <a:pt x="1431163" y="0"/>
                  </a:lnTo>
                  <a:cubicBezTo>
                    <a:pt x="1440561" y="0"/>
                    <a:pt x="1448054" y="7620"/>
                    <a:pt x="1448054" y="16891"/>
                  </a:cubicBezTo>
                  <a:lnTo>
                    <a:pt x="1448054" y="699643"/>
                  </a:lnTo>
                  <a:cubicBezTo>
                    <a:pt x="1448054" y="709041"/>
                    <a:pt x="1440434" y="716534"/>
                    <a:pt x="14311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431163" y="682752"/>
                  </a:lnTo>
                  <a:lnTo>
                    <a:pt x="1431163" y="699643"/>
                  </a:lnTo>
                  <a:lnTo>
                    <a:pt x="1414272" y="699643"/>
                  </a:lnTo>
                  <a:lnTo>
                    <a:pt x="1414272" y="16891"/>
                  </a:lnTo>
                  <a:lnTo>
                    <a:pt x="1431163" y="16891"/>
                  </a:lnTo>
                  <a:lnTo>
                    <a:pt x="1431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02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735824" y="2340864"/>
            <a:ext cx="1060704" cy="512064"/>
            <a:chOff x="0" y="0"/>
            <a:chExt cx="141427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14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5840" y="3143631"/>
            <a:ext cx="74980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76F51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Risk: Limited publicly available labeled datasets specific to silkworm diseases.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840" y="4204335"/>
            <a:ext cx="74980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6A4F"/>
                </a:solidFill>
                <a:latin typeface="Calibri (MS)"/>
                <a:ea typeface="Calibri (MS)"/>
                <a:cs typeface="Calibri (MS)"/>
                <a:sym typeface="Calibri (MS)"/>
              </a:rPr>
              <a:t>✅ Mitigation: Custom dataset collection from field + data augmentation (rotation, flip, brightness)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14183" y="2181863"/>
            <a:ext cx="8346443" cy="3463547"/>
            <a:chOff x="0" y="0"/>
            <a:chExt cx="11128591" cy="46180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109472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28501" cy="4617974"/>
            </a:xfrm>
            <a:custGeom>
              <a:avLst/>
              <a:gdLst/>
              <a:ahLst/>
              <a:cxnLst/>
              <a:rect r="r" b="b" t="t" l="l"/>
              <a:pathLst>
                <a:path h="461797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01083"/>
                  </a:lnTo>
                  <a:cubicBezTo>
                    <a:pt x="11128501" y="4610481"/>
                    <a:pt x="11120882" y="4617974"/>
                    <a:pt x="1111161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1111611" y="4584192"/>
                  </a:lnTo>
                  <a:lnTo>
                    <a:pt x="11111611" y="4601083"/>
                  </a:lnTo>
                  <a:lnTo>
                    <a:pt x="11094720" y="46010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14183" y="2181863"/>
            <a:ext cx="8346443" cy="848363"/>
            <a:chOff x="0" y="0"/>
            <a:chExt cx="11128591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46336" y="2194560"/>
            <a:ext cx="6949440" cy="822960"/>
            <a:chOff x="0" y="0"/>
            <a:chExt cx="92659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🔮 Model Generalization Risk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09927" y="2328167"/>
            <a:ext cx="1086107" cy="537467"/>
            <a:chOff x="0" y="0"/>
            <a:chExt cx="1448143" cy="7166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8A02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48054" cy="716536"/>
            </a:xfrm>
            <a:custGeom>
              <a:avLst/>
              <a:gdLst/>
              <a:ahLst/>
              <a:cxnLst/>
              <a:rect r="r" b="b" t="t" l="l"/>
              <a:pathLst>
                <a:path h="716536" w="1448054">
                  <a:moveTo>
                    <a:pt x="16891" y="0"/>
                  </a:moveTo>
                  <a:lnTo>
                    <a:pt x="1431163" y="0"/>
                  </a:lnTo>
                  <a:cubicBezTo>
                    <a:pt x="1440561" y="0"/>
                    <a:pt x="1448054" y="7620"/>
                    <a:pt x="1448054" y="16891"/>
                  </a:cubicBezTo>
                  <a:lnTo>
                    <a:pt x="1448054" y="699643"/>
                  </a:lnTo>
                  <a:cubicBezTo>
                    <a:pt x="1448054" y="709041"/>
                    <a:pt x="1440434" y="716534"/>
                    <a:pt x="14311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431163" y="682752"/>
                  </a:lnTo>
                  <a:lnTo>
                    <a:pt x="1431163" y="699643"/>
                  </a:lnTo>
                  <a:lnTo>
                    <a:pt x="1414272" y="699643"/>
                  </a:lnTo>
                  <a:lnTo>
                    <a:pt x="1414272" y="16891"/>
                  </a:lnTo>
                  <a:lnTo>
                    <a:pt x="1431163" y="16891"/>
                  </a:lnTo>
                  <a:lnTo>
                    <a:pt x="1431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0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22624" y="2340864"/>
            <a:ext cx="1060704" cy="512064"/>
            <a:chOff x="0" y="0"/>
            <a:chExt cx="1414272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14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692640" y="3143631"/>
            <a:ext cx="74980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76F51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Risk: Model may underperform on real-world noisy or blurry images from field conditions.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92640" y="4204335"/>
            <a:ext cx="74980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6A4F"/>
                </a:solidFill>
                <a:latin typeface="Calibri (MS)"/>
                <a:ea typeface="Calibri (MS)"/>
                <a:cs typeface="Calibri (MS)"/>
                <a:sym typeface="Calibri (MS)"/>
              </a:rPr>
              <a:t>✅ Mitigation: Extensive augmentation + image quality checks with user feedback loop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27383" y="5930903"/>
            <a:ext cx="8346443" cy="3463547"/>
            <a:chOff x="0" y="0"/>
            <a:chExt cx="11128591" cy="46180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109472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128501" cy="4617974"/>
            </a:xfrm>
            <a:custGeom>
              <a:avLst/>
              <a:gdLst/>
              <a:ahLst/>
              <a:cxnLst/>
              <a:rect r="r" b="b" t="t" l="l"/>
              <a:pathLst>
                <a:path h="461797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01083"/>
                  </a:lnTo>
                  <a:cubicBezTo>
                    <a:pt x="11128501" y="4610481"/>
                    <a:pt x="11120882" y="4617974"/>
                    <a:pt x="1111161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1111611" y="4584192"/>
                  </a:lnTo>
                  <a:lnTo>
                    <a:pt x="11111611" y="4601083"/>
                  </a:lnTo>
                  <a:lnTo>
                    <a:pt x="11094720" y="46010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27383" y="5930903"/>
            <a:ext cx="8346443" cy="848363"/>
            <a:chOff x="0" y="0"/>
            <a:chExt cx="11128591" cy="11311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59536" y="5943600"/>
            <a:ext cx="6949440" cy="822960"/>
            <a:chOff x="0" y="0"/>
            <a:chExt cx="926592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👨‍🌾 User Adoption Risk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23127" y="6077207"/>
            <a:ext cx="1086107" cy="537467"/>
            <a:chOff x="0" y="0"/>
            <a:chExt cx="1448143" cy="7166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48054" cy="716536"/>
            </a:xfrm>
            <a:custGeom>
              <a:avLst/>
              <a:gdLst/>
              <a:ahLst/>
              <a:cxnLst/>
              <a:rect r="r" b="b" t="t" l="l"/>
              <a:pathLst>
                <a:path h="716536" w="1448054">
                  <a:moveTo>
                    <a:pt x="16891" y="0"/>
                  </a:moveTo>
                  <a:lnTo>
                    <a:pt x="1431163" y="0"/>
                  </a:lnTo>
                  <a:cubicBezTo>
                    <a:pt x="1440561" y="0"/>
                    <a:pt x="1448054" y="7620"/>
                    <a:pt x="1448054" y="16891"/>
                  </a:cubicBezTo>
                  <a:lnTo>
                    <a:pt x="1448054" y="699643"/>
                  </a:lnTo>
                  <a:cubicBezTo>
                    <a:pt x="1448054" y="709041"/>
                    <a:pt x="1440434" y="716534"/>
                    <a:pt x="14311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431163" y="682752"/>
                  </a:lnTo>
                  <a:lnTo>
                    <a:pt x="1431163" y="699643"/>
                  </a:lnTo>
                  <a:lnTo>
                    <a:pt x="1414272" y="699643"/>
                  </a:lnTo>
                  <a:lnTo>
                    <a:pt x="1414272" y="16891"/>
                  </a:lnTo>
                  <a:lnTo>
                    <a:pt x="1431163" y="16891"/>
                  </a:lnTo>
                  <a:lnTo>
                    <a:pt x="1431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735824" y="6089904"/>
            <a:ext cx="1060704" cy="512064"/>
            <a:chOff x="0" y="0"/>
            <a:chExt cx="1414272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414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05840" y="6892671"/>
            <a:ext cx="74980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76F51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Risk: Resistance from farmers unfamiliar with smartphones or technology.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05840" y="7953375"/>
            <a:ext cx="74980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6A4F"/>
                </a:solidFill>
                <a:latin typeface="Calibri (MS)"/>
                <a:ea typeface="Calibri (MS)"/>
                <a:cs typeface="Calibri (MS)"/>
                <a:sym typeface="Calibri (MS)"/>
              </a:rPr>
              <a:t>✅ Mitigation: Intuitive UI, regional language support, NGO-organized training sessions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314183" y="5930903"/>
            <a:ext cx="8346443" cy="3463547"/>
            <a:chOff x="0" y="0"/>
            <a:chExt cx="11128591" cy="46180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094720" cy="4584192"/>
            </a:xfrm>
            <a:custGeom>
              <a:avLst/>
              <a:gdLst/>
              <a:ahLst/>
              <a:cxnLst/>
              <a:rect r="r" b="b" t="t" l="l"/>
              <a:pathLst>
                <a:path h="458419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501" cy="4617974"/>
            </a:xfrm>
            <a:custGeom>
              <a:avLst/>
              <a:gdLst/>
              <a:ahLst/>
              <a:cxnLst/>
              <a:rect r="r" b="b" t="t" l="l"/>
              <a:pathLst>
                <a:path h="461797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01083"/>
                  </a:lnTo>
                  <a:cubicBezTo>
                    <a:pt x="11128501" y="4610481"/>
                    <a:pt x="11120882" y="4617974"/>
                    <a:pt x="11111611" y="4617974"/>
                  </a:cubicBezTo>
                  <a:lnTo>
                    <a:pt x="16891" y="4617974"/>
                  </a:lnTo>
                  <a:cubicBezTo>
                    <a:pt x="7493" y="4617974"/>
                    <a:pt x="0" y="4610354"/>
                    <a:pt x="0" y="4601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01083"/>
                  </a:lnTo>
                  <a:lnTo>
                    <a:pt x="16891" y="4601083"/>
                  </a:lnTo>
                  <a:lnTo>
                    <a:pt x="16891" y="4584192"/>
                  </a:lnTo>
                  <a:lnTo>
                    <a:pt x="11111611" y="4584192"/>
                  </a:lnTo>
                  <a:lnTo>
                    <a:pt x="11111611" y="4601083"/>
                  </a:lnTo>
                  <a:lnTo>
                    <a:pt x="11094720" y="460108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314183" y="5930903"/>
            <a:ext cx="8346443" cy="848363"/>
            <a:chOff x="0" y="0"/>
            <a:chExt cx="11128591" cy="11311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46336" y="5943600"/>
            <a:ext cx="6949440" cy="822960"/>
            <a:chOff x="0" y="0"/>
            <a:chExt cx="926592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2659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Connectivity Risk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409927" y="6077207"/>
            <a:ext cx="1086107" cy="537467"/>
            <a:chOff x="0" y="0"/>
            <a:chExt cx="1448143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48054" cy="716536"/>
            </a:xfrm>
            <a:custGeom>
              <a:avLst/>
              <a:gdLst/>
              <a:ahLst/>
              <a:cxnLst/>
              <a:rect r="r" b="b" t="t" l="l"/>
              <a:pathLst>
                <a:path h="716536" w="1448054">
                  <a:moveTo>
                    <a:pt x="16891" y="0"/>
                  </a:moveTo>
                  <a:lnTo>
                    <a:pt x="1431163" y="0"/>
                  </a:lnTo>
                  <a:cubicBezTo>
                    <a:pt x="1440561" y="0"/>
                    <a:pt x="1448054" y="7620"/>
                    <a:pt x="1448054" y="16891"/>
                  </a:cubicBezTo>
                  <a:lnTo>
                    <a:pt x="1448054" y="699643"/>
                  </a:lnTo>
                  <a:cubicBezTo>
                    <a:pt x="1448054" y="709041"/>
                    <a:pt x="1440434" y="716534"/>
                    <a:pt x="14311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431163" y="682752"/>
                  </a:lnTo>
                  <a:lnTo>
                    <a:pt x="1431163" y="699643"/>
                  </a:lnTo>
                  <a:lnTo>
                    <a:pt x="1414272" y="699643"/>
                  </a:lnTo>
                  <a:lnTo>
                    <a:pt x="1414272" y="16891"/>
                  </a:lnTo>
                  <a:lnTo>
                    <a:pt x="1431163" y="16891"/>
                  </a:lnTo>
                  <a:lnTo>
                    <a:pt x="1431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422624" y="6089904"/>
            <a:ext cx="1060704" cy="512064"/>
            <a:chOff x="0" y="0"/>
            <a:chExt cx="141427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14272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414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692640" y="6892671"/>
            <a:ext cx="74980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76F51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Risk: Poor internet in rural areas may disrupt cloud-based inference.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92640" y="7953375"/>
            <a:ext cx="74980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6A4F"/>
                </a:solidFill>
                <a:latin typeface="Calibri (MS)"/>
                <a:ea typeface="Calibri (MS)"/>
                <a:cs typeface="Calibri (MS)"/>
                <a:sym typeface="Calibri (MS)"/>
              </a:rPr>
              <a:t>✅ Mitigation: Edge computing via TensorFlow Lite for offline detection on mobile devices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Testing – Acceptance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Validation with Farmers &amp; Field Officers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10083803" cy="1945643"/>
            <a:chOff x="0" y="0"/>
            <a:chExt cx="13445071" cy="2594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199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49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2577211"/>
                  </a:lnTo>
                  <a:cubicBezTo>
                    <a:pt x="13444982" y="2586609"/>
                    <a:pt x="13437363" y="2594102"/>
                    <a:pt x="1342809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428090" y="2560320"/>
                  </a:lnTo>
                  <a:lnTo>
                    <a:pt x="13428090" y="2577211"/>
                  </a:lnTo>
                  <a:lnTo>
                    <a:pt x="13411200" y="2577211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286000"/>
            <a:ext cx="9692640" cy="585216"/>
            <a:chOff x="0" y="0"/>
            <a:chExt cx="1292352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23520" cy="780288"/>
            </a:xfrm>
            <a:custGeom>
              <a:avLst/>
              <a:gdLst/>
              <a:ahLst/>
              <a:cxnLst/>
              <a:rect r="r" b="b" t="t" l="l"/>
              <a:pathLst>
                <a:path h="78028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720" r="0" b="-2727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9235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Acceptance Testing Objectives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2889504"/>
            <a:ext cx="9326880" cy="512064"/>
            <a:chOff x="0" y="0"/>
            <a:chExt cx="124358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Validate ease of use &amp; understanding  |  Ensure accurate disease detection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474720"/>
            <a:ext cx="9326880" cy="512064"/>
            <a:chOff x="0" y="0"/>
            <a:chExt cx="1243584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Evaluate alert helpfulness  |  Identify usability issues &amp; feature gaps</a:t>
              </a: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65760" y="3291840"/>
            <a:ext cx="12070080" cy="7168896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 rot="0">
            <a:off x="11142983" y="2181863"/>
            <a:ext cx="6517643" cy="7304027"/>
            <a:chOff x="0" y="0"/>
            <a:chExt cx="8690191" cy="97387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8656320" cy="9704832"/>
            </a:xfrm>
            <a:custGeom>
              <a:avLst/>
              <a:gdLst/>
              <a:ahLst/>
              <a:cxnLst/>
              <a:rect r="r" b="b" t="t" l="l"/>
              <a:pathLst>
                <a:path h="9704832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0101" cy="9738614"/>
            </a:xfrm>
            <a:custGeom>
              <a:avLst/>
              <a:gdLst/>
              <a:ahLst/>
              <a:cxnLst/>
              <a:rect r="r" b="b" t="t" l="l"/>
              <a:pathLst>
                <a:path h="9738614" w="8690101">
                  <a:moveTo>
                    <a:pt x="16891" y="0"/>
                  </a:moveTo>
                  <a:lnTo>
                    <a:pt x="8673211" y="0"/>
                  </a:lnTo>
                  <a:cubicBezTo>
                    <a:pt x="8682609" y="0"/>
                    <a:pt x="8690101" y="7620"/>
                    <a:pt x="8690101" y="16891"/>
                  </a:cubicBezTo>
                  <a:lnTo>
                    <a:pt x="8690101" y="9721723"/>
                  </a:lnTo>
                  <a:cubicBezTo>
                    <a:pt x="8690101" y="9731121"/>
                    <a:pt x="8682482" y="9738614"/>
                    <a:pt x="867321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8673211" y="9704832"/>
                  </a:lnTo>
                  <a:lnTo>
                    <a:pt x="8673211" y="9721723"/>
                  </a:lnTo>
                  <a:lnTo>
                    <a:pt x="8656320" y="9721723"/>
                  </a:lnTo>
                  <a:lnTo>
                    <a:pt x="8656320" y="16891"/>
                  </a:lnTo>
                  <a:lnTo>
                    <a:pt x="8673211" y="16891"/>
                  </a:lnTo>
                  <a:lnTo>
                    <a:pt x="8673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338560" y="2286000"/>
            <a:ext cx="6126480" cy="694944"/>
            <a:chOff x="0" y="0"/>
            <a:chExt cx="81686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68640" cy="926592"/>
            </a:xfrm>
            <a:custGeom>
              <a:avLst/>
              <a:gdLst/>
              <a:ahLst/>
              <a:cxnLst/>
              <a:rect r="r" b="b" t="t" l="l"/>
              <a:pathLst>
                <a:path h="92659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75" r="0" b="-1217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68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Feedback Highlights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34423" y="3132839"/>
            <a:ext cx="6243323" cy="939803"/>
            <a:chOff x="0" y="0"/>
            <a:chExt cx="8324431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301984" y="3200400"/>
            <a:ext cx="694944" cy="768096"/>
            <a:chOff x="0" y="0"/>
            <a:chExt cx="926592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70080" y="3200400"/>
            <a:ext cx="5266944" cy="768096"/>
            <a:chOff x="0" y="0"/>
            <a:chExt cx="7022592" cy="1024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upload intuitive for non-tech-savvy farmers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234423" y="4175255"/>
            <a:ext cx="6243323" cy="939803"/>
            <a:chOff x="0" y="0"/>
            <a:chExt cx="8324431" cy="1253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01984" y="4242816"/>
            <a:ext cx="694944" cy="768096"/>
            <a:chOff x="0" y="0"/>
            <a:chExt cx="926592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70080" y="4242816"/>
            <a:ext cx="5266944" cy="768096"/>
            <a:chOff x="0" y="0"/>
            <a:chExt cx="7022592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Disease results shown clearly with actionable advice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34423" y="5217671"/>
            <a:ext cx="6243323" cy="939803"/>
            <a:chOff x="0" y="0"/>
            <a:chExt cx="8324431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301984" y="5285232"/>
            <a:ext cx="694944" cy="768096"/>
            <a:chOff x="0" y="0"/>
            <a:chExt cx="926592" cy="1024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070080" y="5285232"/>
            <a:ext cx="5266944" cy="768096"/>
            <a:chOff x="0" y="0"/>
            <a:chExt cx="7022592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Kannada/Tamil UI switch works flawlessly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234423" y="6260087"/>
            <a:ext cx="6243323" cy="939803"/>
            <a:chOff x="0" y="0"/>
            <a:chExt cx="8324431" cy="12530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301984" y="6327648"/>
            <a:ext cx="694944" cy="768096"/>
            <a:chOff x="0" y="0"/>
            <a:chExt cx="926592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70080" y="6327648"/>
            <a:ext cx="5266944" cy="768096"/>
            <a:chOff x="0" y="0"/>
            <a:chExt cx="7022592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Step-by-step guidance reduces confusion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234423" y="7302503"/>
            <a:ext cx="6243323" cy="939803"/>
            <a:chOff x="0" y="0"/>
            <a:chExt cx="8324431" cy="12530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301984" y="7370064"/>
            <a:ext cx="694944" cy="768096"/>
            <a:chOff x="0" y="0"/>
            <a:chExt cx="926592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70080" y="7370064"/>
            <a:ext cx="5266944" cy="768096"/>
            <a:chOff x="0" y="0"/>
            <a:chExt cx="7022592" cy="10241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 in &lt; 2 seconds even on slow internet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234423" y="8344919"/>
            <a:ext cx="6243323" cy="939803"/>
            <a:chOff x="0" y="0"/>
            <a:chExt cx="8324431" cy="12530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8290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3243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236091"/>
                  </a:lnTo>
                  <a:cubicBezTo>
                    <a:pt x="8324342" y="1245489"/>
                    <a:pt x="8316722" y="1252982"/>
                    <a:pt x="83074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307451" y="1219200"/>
                  </a:lnTo>
                  <a:lnTo>
                    <a:pt x="8307451" y="1236091"/>
                  </a:lnTo>
                  <a:lnTo>
                    <a:pt x="8290560" y="12360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301984" y="8412480"/>
            <a:ext cx="694944" cy="768096"/>
            <a:chOff x="0" y="0"/>
            <a:chExt cx="926592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26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070080" y="8412480"/>
            <a:ext cx="5266944" cy="768096"/>
            <a:chOff x="0" y="0"/>
            <a:chExt cx="7022592" cy="10241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0225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70225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Offline mode via edge model works in rural areas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Climate-Based Cocoon Optimization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Maximizing Silk Yield Through Environmental Intelligence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9718043" cy="7304027"/>
            <a:chOff x="0" y="0"/>
            <a:chExt cx="12957391" cy="97387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923520" cy="9704832"/>
            </a:xfrm>
            <a:custGeom>
              <a:avLst/>
              <a:gdLst/>
              <a:ahLst/>
              <a:cxnLst/>
              <a:rect r="r" b="b" t="t" l="l"/>
              <a:pathLst>
                <a:path h="970483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7302" cy="9738614"/>
            </a:xfrm>
            <a:custGeom>
              <a:avLst/>
              <a:gdLst/>
              <a:ahLst/>
              <a:cxnLst/>
              <a:rect r="r" b="b" t="t" l="l"/>
              <a:pathLst>
                <a:path h="9738614" w="12957302">
                  <a:moveTo>
                    <a:pt x="16891" y="0"/>
                  </a:moveTo>
                  <a:lnTo>
                    <a:pt x="12940411" y="0"/>
                  </a:lnTo>
                  <a:cubicBezTo>
                    <a:pt x="12949809" y="0"/>
                    <a:pt x="12957302" y="7620"/>
                    <a:pt x="12957302" y="16891"/>
                  </a:cubicBezTo>
                  <a:lnTo>
                    <a:pt x="12957302" y="9721723"/>
                  </a:lnTo>
                  <a:cubicBezTo>
                    <a:pt x="12957302" y="9731121"/>
                    <a:pt x="12949682" y="9738614"/>
                    <a:pt x="1294041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12940411" y="9704832"/>
                  </a:lnTo>
                  <a:lnTo>
                    <a:pt x="12940411" y="9721723"/>
                  </a:lnTo>
                  <a:lnTo>
                    <a:pt x="12923520" y="9721723"/>
                  </a:lnTo>
                  <a:lnTo>
                    <a:pt x="12923520" y="16891"/>
                  </a:lnTo>
                  <a:lnTo>
                    <a:pt x="12940411" y="16891"/>
                  </a:lnTo>
                  <a:lnTo>
                    <a:pt x="12940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322576"/>
            <a:ext cx="9326880" cy="694944"/>
            <a:chOff x="0" y="0"/>
            <a:chExt cx="1243584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24358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63" y="3187703"/>
            <a:ext cx="848363" cy="848363"/>
            <a:chOff x="0" y="0"/>
            <a:chExt cx="1131151" cy="1131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1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114171"/>
                  </a:lnTo>
                  <a:cubicBezTo>
                    <a:pt x="1131062" y="1123569"/>
                    <a:pt x="1123442" y="1131062"/>
                    <a:pt x="1114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4171" y="1097280"/>
                  </a:lnTo>
                  <a:lnTo>
                    <a:pt x="1114171" y="1114171"/>
                  </a:lnTo>
                  <a:lnTo>
                    <a:pt x="1097280" y="111417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20040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92224" y="3218688"/>
            <a:ext cx="8229600" cy="1060704"/>
            <a:chOff x="0" y="0"/>
            <a:chExt cx="10972800" cy="1414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77" r="0" b="-1011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 Monitoring – Sensors track real-time temperature. Optimal range: 23–28°C for peak cocoon quality.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0263" y="4412999"/>
            <a:ext cx="848363" cy="848363"/>
            <a:chOff x="0" y="0"/>
            <a:chExt cx="113115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1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114171"/>
                  </a:lnTo>
                  <a:cubicBezTo>
                    <a:pt x="1131062" y="1123569"/>
                    <a:pt x="1123442" y="1131062"/>
                    <a:pt x="1114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4171" y="1097280"/>
                  </a:lnTo>
                  <a:lnTo>
                    <a:pt x="1114171" y="1114171"/>
                  </a:lnTo>
                  <a:lnTo>
                    <a:pt x="1097280" y="111417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4425696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💧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92224" y="4443984"/>
            <a:ext cx="8229600" cy="1060704"/>
            <a:chOff x="0" y="0"/>
            <a:chExt cx="109728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77" r="0" b="-1011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9728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Humidity Analysis – Humidity levels maintained at 70–85%. RNN model predicts optimal conditions from historical data.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0263" y="5638295"/>
            <a:ext cx="848363" cy="848363"/>
            <a:chOff x="0" y="0"/>
            <a:chExt cx="113115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1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114171"/>
                  </a:lnTo>
                  <a:cubicBezTo>
                    <a:pt x="1131062" y="1123569"/>
                    <a:pt x="1123442" y="1131062"/>
                    <a:pt x="1114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4171" y="1097280"/>
                  </a:lnTo>
                  <a:lnTo>
                    <a:pt x="1114171" y="1114171"/>
                  </a:lnTo>
                  <a:lnTo>
                    <a:pt x="1097280" y="111417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5650992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🌬️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92224" y="5669280"/>
            <a:ext cx="8229600" cy="1060704"/>
            <a:chOff x="0" y="0"/>
            <a:chExt cx="1097280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77" r="0" b="-1011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9728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Air Quality Tracking – CO₂ and air quality indices monitored. Poor air quality triggers preventive alerts.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6863591"/>
            <a:ext cx="848363" cy="848363"/>
            <a:chOff x="0" y="0"/>
            <a:chExt cx="1131151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1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114171"/>
                  </a:lnTo>
                  <a:cubicBezTo>
                    <a:pt x="1131062" y="1123569"/>
                    <a:pt x="1123442" y="1131062"/>
                    <a:pt x="1114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4171" y="1097280"/>
                  </a:lnTo>
                  <a:lnTo>
                    <a:pt x="1114171" y="1114171"/>
                  </a:lnTo>
                  <a:lnTo>
                    <a:pt x="1097280" y="111417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6876288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92224" y="6894576"/>
            <a:ext cx="8229600" cy="1060704"/>
            <a:chOff x="0" y="0"/>
            <a:chExt cx="10972800" cy="14142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77" r="0" b="-1011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9728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ML Model – RNN-based model analyzes environmental trends to recommend optimal rearing adjustments.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0263" y="8088887"/>
            <a:ext cx="848363" cy="848363"/>
            <a:chOff x="0" y="0"/>
            <a:chExt cx="1131151" cy="11311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1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114171"/>
                  </a:lnTo>
                  <a:cubicBezTo>
                    <a:pt x="1131062" y="1123569"/>
                    <a:pt x="1123442" y="1131062"/>
                    <a:pt x="111417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4171" y="1097280"/>
                  </a:lnTo>
                  <a:lnTo>
                    <a:pt x="1114171" y="1114171"/>
                  </a:lnTo>
                  <a:lnTo>
                    <a:pt x="1097280" y="111417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8101584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92224" y="8119872"/>
            <a:ext cx="8229600" cy="1060704"/>
            <a:chOff x="0" y="0"/>
            <a:chExt cx="10972800" cy="14142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77" r="0" b="-1011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9728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Cocoon Grading – Predicts cocoon quality grade (A/B/C) based on environmental + genetic factors.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85783" y="2181863"/>
            <a:ext cx="6974843" cy="7304027"/>
            <a:chOff x="0" y="0"/>
            <a:chExt cx="9299791" cy="97387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265920" cy="9704832"/>
            </a:xfrm>
            <a:custGeom>
              <a:avLst/>
              <a:gdLst/>
              <a:ahLst/>
              <a:cxnLst/>
              <a:rect r="r" b="b" t="t" l="l"/>
              <a:pathLst>
                <a:path h="970483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04832"/>
                  </a:lnTo>
                  <a:lnTo>
                    <a:pt x="0" y="9704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99701" cy="9738614"/>
            </a:xfrm>
            <a:custGeom>
              <a:avLst/>
              <a:gdLst/>
              <a:ahLst/>
              <a:cxnLst/>
              <a:rect r="r" b="b" t="t" l="l"/>
              <a:pathLst>
                <a:path h="973861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9721723"/>
                  </a:lnTo>
                  <a:cubicBezTo>
                    <a:pt x="9299701" y="9731121"/>
                    <a:pt x="9292082" y="9738614"/>
                    <a:pt x="9282811" y="9738614"/>
                  </a:cubicBezTo>
                  <a:lnTo>
                    <a:pt x="16891" y="9738614"/>
                  </a:lnTo>
                  <a:cubicBezTo>
                    <a:pt x="7493" y="9738614"/>
                    <a:pt x="0" y="9730994"/>
                    <a:pt x="0" y="9721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21723"/>
                  </a:lnTo>
                  <a:lnTo>
                    <a:pt x="16891" y="9721723"/>
                  </a:lnTo>
                  <a:lnTo>
                    <a:pt x="16891" y="9704832"/>
                  </a:lnTo>
                  <a:lnTo>
                    <a:pt x="9282811" y="9704832"/>
                  </a:lnTo>
                  <a:lnTo>
                    <a:pt x="9282811" y="9721723"/>
                  </a:lnTo>
                  <a:lnTo>
                    <a:pt x="9265920" y="9721723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881360" y="2322576"/>
            <a:ext cx="6583680" cy="694944"/>
            <a:chOff x="0" y="0"/>
            <a:chExt cx="877824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Cocoon Optimization Results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68663" y="3132839"/>
            <a:ext cx="3280667" cy="1762763"/>
            <a:chOff x="0" y="0"/>
            <a:chExt cx="4374223" cy="23503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881360" y="3291840"/>
            <a:ext cx="3255264" cy="950976"/>
            <a:chOff x="0" y="0"/>
            <a:chExt cx="4340352" cy="12679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95%–97%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881360" y="4279392"/>
            <a:ext cx="3255264" cy="512064"/>
            <a:chOff x="0" y="0"/>
            <a:chExt cx="434035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343383" y="3132839"/>
            <a:ext cx="3280667" cy="1762763"/>
            <a:chOff x="0" y="0"/>
            <a:chExt cx="4374223" cy="23503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356080" y="3291840"/>
            <a:ext cx="3255264" cy="950976"/>
            <a:chOff x="0" y="0"/>
            <a:chExt cx="4340352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96.3%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356080" y="4279392"/>
            <a:ext cx="3255264" cy="512064"/>
            <a:chOff x="0" y="0"/>
            <a:chExt cx="4340352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868663" y="5107943"/>
            <a:ext cx="3280667" cy="1762763"/>
            <a:chOff x="0" y="0"/>
            <a:chExt cx="4374223" cy="23503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881360" y="5266944"/>
            <a:ext cx="3255264" cy="950976"/>
            <a:chOff x="0" y="0"/>
            <a:chExt cx="4340352" cy="12679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95.7%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881360" y="6254496"/>
            <a:ext cx="3255264" cy="512064"/>
            <a:chOff x="0" y="0"/>
            <a:chExt cx="4340352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343383" y="5107943"/>
            <a:ext cx="3280667" cy="1762763"/>
            <a:chOff x="0" y="0"/>
            <a:chExt cx="4374223" cy="23503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356080" y="5266944"/>
            <a:ext cx="3255264" cy="950976"/>
            <a:chOff x="0" y="0"/>
            <a:chExt cx="4340352" cy="12679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96.0%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356080" y="6254496"/>
            <a:ext cx="3255264" cy="512064"/>
            <a:chOff x="0" y="0"/>
            <a:chExt cx="434035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868663" y="7083047"/>
            <a:ext cx="3280667" cy="1762763"/>
            <a:chOff x="0" y="0"/>
            <a:chExt cx="4374223" cy="235035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881360" y="7242048"/>
            <a:ext cx="3255264" cy="950976"/>
            <a:chOff x="0" y="0"/>
            <a:chExt cx="4340352" cy="126796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~13 MB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881360" y="8229600"/>
            <a:ext cx="3255264" cy="512064"/>
            <a:chOff x="0" y="0"/>
            <a:chExt cx="4340352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Size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343383" y="7083047"/>
            <a:ext cx="3280667" cy="1762763"/>
            <a:chOff x="0" y="0"/>
            <a:chExt cx="4374223" cy="235035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340352" cy="2316480"/>
            </a:xfrm>
            <a:custGeom>
              <a:avLst/>
              <a:gdLst/>
              <a:ahLst/>
              <a:cxnLst/>
              <a:rect r="r" b="b" t="t" l="l"/>
              <a:pathLst>
                <a:path h="231648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374134" cy="2350262"/>
            </a:xfrm>
            <a:custGeom>
              <a:avLst/>
              <a:gdLst/>
              <a:ahLst/>
              <a:cxnLst/>
              <a:rect r="r" b="b" t="t" l="l"/>
              <a:pathLst>
                <a:path h="2350262" w="4374134">
                  <a:moveTo>
                    <a:pt x="16891" y="0"/>
                  </a:moveTo>
                  <a:lnTo>
                    <a:pt x="4357243" y="0"/>
                  </a:lnTo>
                  <a:cubicBezTo>
                    <a:pt x="4366641" y="0"/>
                    <a:pt x="4374134" y="7620"/>
                    <a:pt x="4374134" y="16891"/>
                  </a:cubicBezTo>
                  <a:lnTo>
                    <a:pt x="4374134" y="2333371"/>
                  </a:lnTo>
                  <a:cubicBezTo>
                    <a:pt x="4374134" y="2342769"/>
                    <a:pt x="4366514" y="2350262"/>
                    <a:pt x="4357243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357243" y="2316480"/>
                  </a:lnTo>
                  <a:lnTo>
                    <a:pt x="4357243" y="2333371"/>
                  </a:lnTo>
                  <a:lnTo>
                    <a:pt x="4340352" y="2333371"/>
                  </a:lnTo>
                  <a:lnTo>
                    <a:pt x="4340352" y="16891"/>
                  </a:lnTo>
                  <a:lnTo>
                    <a:pt x="4357243" y="16891"/>
                  </a:lnTo>
                  <a:lnTo>
                    <a:pt x="4357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4356080" y="7242048"/>
            <a:ext cx="3255264" cy="950976"/>
            <a:chOff x="0" y="0"/>
            <a:chExt cx="4340352" cy="12679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40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76200"/>
              <a:ext cx="434035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~60 ms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356080" y="8229600"/>
            <a:ext cx="3255264" cy="512064"/>
            <a:chOff x="0" y="0"/>
            <a:chExt cx="4340352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340352" cy="682752"/>
            </a:xfrm>
            <a:custGeom>
              <a:avLst/>
              <a:gdLst/>
              <a:ahLst/>
              <a:cxnLst/>
              <a:rect r="r" b="b" t="t" l="l"/>
              <a:pathLst>
                <a:path h="68275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69" r="0" b="-7386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3403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EE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Time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188720"/>
            <a:chOff x="0" y="0"/>
            <a:chExt cx="219456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499616"/>
            <a:ext cx="16459200" cy="731520"/>
            <a:chOff x="0" y="0"/>
            <a:chExt cx="219456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AACCB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Silk Shield – Bridging AI and Agriculture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456183"/>
            <a:ext cx="16941803" cy="1067819"/>
            <a:chOff x="0" y="0"/>
            <a:chExt cx="22589071" cy="14237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E4A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4A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505456"/>
            <a:ext cx="1005840" cy="950976"/>
            <a:chOff x="0" y="0"/>
            <a:chExt cx="1341120" cy="12679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0240" y="2505456"/>
            <a:ext cx="15544800" cy="950976"/>
            <a:chOff x="0" y="0"/>
            <a:chExt cx="20726400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demonstrated CNN-based (EfficientNet-B3) silkworm disease detection with 96–98% 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3608327"/>
            <a:ext cx="16941803" cy="1067819"/>
            <a:chOff x="0" y="0"/>
            <a:chExt cx="22589071" cy="14237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657600"/>
            <a:ext cx="1005840" cy="950976"/>
            <a:chOff x="0" y="0"/>
            <a:chExt cx="134112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3657600"/>
            <a:ext cx="15544800" cy="950976"/>
            <a:chOff x="0" y="0"/>
            <a:chExt cx="2072640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detection enables timely preventive and curative action, reducing disease outbreak risk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23" y="4760471"/>
            <a:ext cx="16941803" cy="1067819"/>
            <a:chOff x="0" y="0"/>
            <a:chExt cx="22589071" cy="14237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E4A3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4A3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809744"/>
            <a:ext cx="1005840" cy="950976"/>
            <a:chOff x="0" y="0"/>
            <a:chExt cx="134112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20240" y="4809744"/>
            <a:ext cx="15544800" cy="950976"/>
            <a:chOff x="0" y="0"/>
            <a:chExt cx="20726400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User-friendly mobile/web interface with multilingual support reaches rural farmers effectively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5912615"/>
            <a:ext cx="16941803" cy="1067819"/>
            <a:chOff x="0" y="0"/>
            <a:chExt cx="22589071" cy="14237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5961888"/>
            <a:ext cx="1005840" cy="950976"/>
            <a:chOff x="0" y="0"/>
            <a:chExt cx="1341120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0240" y="5961888"/>
            <a:ext cx="15544800" cy="950976"/>
            <a:chOff x="0" y="0"/>
            <a:chExt cx="20726400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Climate-based cocoon optimization improves silk yield and quality by adapting to environmental factors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7064759"/>
            <a:ext cx="16941803" cy="1067819"/>
            <a:chOff x="0" y="0"/>
            <a:chExt cx="22589071" cy="14237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E4A3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4A3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114032"/>
            <a:ext cx="1005840" cy="950976"/>
            <a:chOff x="0" y="0"/>
            <a:chExt cx="1341120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20240" y="7114032"/>
            <a:ext cx="15544800" cy="950976"/>
            <a:chOff x="0" y="0"/>
            <a:chExt cx="20726400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Low-cost, open-source implementation (TensorFlow, Flask, Python) makes it viable for small-scale farmers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8823" y="8216903"/>
            <a:ext cx="16941803" cy="1067819"/>
            <a:chOff x="0" y="0"/>
            <a:chExt cx="22589071" cy="14237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2555199" cy="1389888"/>
            </a:xfrm>
            <a:custGeom>
              <a:avLst/>
              <a:gdLst/>
              <a:ahLst/>
              <a:cxnLst/>
              <a:rect r="r" b="b" t="t" l="l"/>
              <a:pathLst>
                <a:path h="1389888" w="22555199">
                  <a:moveTo>
                    <a:pt x="0" y="0"/>
                  </a:moveTo>
                  <a:lnTo>
                    <a:pt x="22555199" y="0"/>
                  </a:lnTo>
                  <a:lnTo>
                    <a:pt x="22555199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588982" cy="1423670"/>
            </a:xfrm>
            <a:custGeom>
              <a:avLst/>
              <a:gdLst/>
              <a:ahLst/>
              <a:cxnLst/>
              <a:rect r="r" b="b" t="t" l="l"/>
              <a:pathLst>
                <a:path h="1423670" w="22588982">
                  <a:moveTo>
                    <a:pt x="16891" y="0"/>
                  </a:moveTo>
                  <a:lnTo>
                    <a:pt x="22572090" y="0"/>
                  </a:lnTo>
                  <a:cubicBezTo>
                    <a:pt x="22581490" y="0"/>
                    <a:pt x="22588982" y="7620"/>
                    <a:pt x="22588982" y="16891"/>
                  </a:cubicBezTo>
                  <a:lnTo>
                    <a:pt x="22588982" y="1406779"/>
                  </a:lnTo>
                  <a:cubicBezTo>
                    <a:pt x="22588982" y="1416177"/>
                    <a:pt x="22581363" y="1423670"/>
                    <a:pt x="22572090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22572090" y="1389888"/>
                  </a:lnTo>
                  <a:lnTo>
                    <a:pt x="22572090" y="1406779"/>
                  </a:lnTo>
                  <a:lnTo>
                    <a:pt x="22555200" y="1406779"/>
                  </a:lnTo>
                  <a:lnTo>
                    <a:pt x="22555200" y="16891"/>
                  </a:lnTo>
                  <a:lnTo>
                    <a:pt x="22572090" y="16891"/>
                  </a:lnTo>
                  <a:lnTo>
                    <a:pt x="22572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22960" y="8266176"/>
            <a:ext cx="1005840" cy="950976"/>
            <a:chOff x="0" y="0"/>
            <a:chExt cx="1341120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341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🌱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920240" y="8266176"/>
            <a:ext cx="15544800" cy="950976"/>
            <a:chOff x="0" y="0"/>
            <a:chExt cx="20726400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07264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Contributes to sustainable silk production, increased profitability, and smart agriculture adoption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Enhancing Silk Shield for Tomorrow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5475227" cy="3353819"/>
            <a:chOff x="0" y="0"/>
            <a:chExt cx="7300303" cy="44717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5475227" cy="976379"/>
            <a:chOff x="0" y="0"/>
            <a:chExt cx="7300303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194560"/>
            <a:ext cx="5084064" cy="950976"/>
            <a:chOff x="0" y="0"/>
            <a:chExt cx="6778752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 Edge Computing for Offline Use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0976" y="3253359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TF Lite models on mobile devices for offline detection in areas with poor internet connectivity.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42967" y="2181863"/>
            <a:ext cx="5475227" cy="3353819"/>
            <a:chOff x="0" y="0"/>
            <a:chExt cx="7300303" cy="4471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42967" y="2181863"/>
            <a:ext cx="5475227" cy="976379"/>
            <a:chOff x="0" y="0"/>
            <a:chExt cx="7300303" cy="1301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38544" y="2194560"/>
            <a:ext cx="5084064" cy="950976"/>
            <a:chOff x="0" y="0"/>
            <a:chExt cx="6778752" cy="12679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🧬  Broader Disease Coverage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766560" y="3253359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Train on broader datasets covering more silkworm breeds and rare diseases for comprehensive protection.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58551" y="2181863"/>
            <a:ext cx="5475227" cy="3353819"/>
            <a:chOff x="0" y="0"/>
            <a:chExt cx="7300303" cy="44717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258551" y="2181863"/>
            <a:ext cx="5475227" cy="976379"/>
            <a:chOff x="0" y="0"/>
            <a:chExt cx="7300303" cy="13018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54128" y="2194560"/>
            <a:ext cx="5084064" cy="950976"/>
            <a:chOff x="0" y="0"/>
            <a:chExt cx="6778752" cy="12679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🌦️  Real-Time Weather Integration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582144" y="3253359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 live weather API data for predictive outbreak alerts based on climate patterns.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27383" y="5802887"/>
            <a:ext cx="5475227" cy="3353819"/>
            <a:chOff x="0" y="0"/>
            <a:chExt cx="7300303" cy="44717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7383" y="5802887"/>
            <a:ext cx="5475227" cy="976379"/>
            <a:chOff x="0" y="0"/>
            <a:chExt cx="7300303" cy="1301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5815584"/>
            <a:ext cx="5084064" cy="950976"/>
            <a:chOff x="0" y="0"/>
            <a:chExt cx="6778752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🔌  IoT Integration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50976" y="6874383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 with IoT-based silkworm rearing environments for automated environmental monitoring.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442967" y="5802887"/>
            <a:ext cx="5475227" cy="3353819"/>
            <a:chOff x="0" y="0"/>
            <a:chExt cx="7300303" cy="447175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442967" y="5802887"/>
            <a:ext cx="5475227" cy="976379"/>
            <a:chOff x="0" y="0"/>
            <a:chExt cx="7300303" cy="13018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638544" y="5815584"/>
            <a:ext cx="5084064" cy="950976"/>
            <a:chOff x="0" y="0"/>
            <a:chExt cx="6778752" cy="12679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🏛️  Government Portal Integration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766560" y="6874383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Link with national agri-portals and agricultural departments for policy-level disease tracking.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258551" y="5802887"/>
            <a:ext cx="5475227" cy="3353819"/>
            <a:chOff x="0" y="0"/>
            <a:chExt cx="7300303" cy="44717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7266432" cy="4437888"/>
            </a:xfrm>
            <a:custGeom>
              <a:avLst/>
              <a:gdLst/>
              <a:ahLst/>
              <a:cxnLst/>
              <a:rect r="r" b="b" t="t" l="l"/>
              <a:pathLst>
                <a:path h="443788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00214" cy="4471670"/>
            </a:xfrm>
            <a:custGeom>
              <a:avLst/>
              <a:gdLst/>
              <a:ahLst/>
              <a:cxnLst/>
              <a:rect r="r" b="b" t="t" l="l"/>
              <a:pathLst>
                <a:path h="447167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4454779"/>
                  </a:lnTo>
                  <a:cubicBezTo>
                    <a:pt x="7300214" y="4464177"/>
                    <a:pt x="7292594" y="4471670"/>
                    <a:pt x="728332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7283323" y="4437888"/>
                  </a:lnTo>
                  <a:lnTo>
                    <a:pt x="7283323" y="4454779"/>
                  </a:lnTo>
                  <a:lnTo>
                    <a:pt x="7266432" y="445477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5D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258551" y="5802887"/>
            <a:ext cx="5475227" cy="976379"/>
            <a:chOff x="0" y="0"/>
            <a:chExt cx="7300303" cy="130183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7266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00214" cy="1301750"/>
            </a:xfrm>
            <a:custGeom>
              <a:avLst/>
              <a:gdLst/>
              <a:ahLst/>
              <a:cxnLst/>
              <a:rect r="r" b="b" t="t" l="l"/>
              <a:pathLst>
                <a:path h="1301750" w="7300214">
                  <a:moveTo>
                    <a:pt x="16891" y="0"/>
                  </a:moveTo>
                  <a:lnTo>
                    <a:pt x="7283323" y="0"/>
                  </a:lnTo>
                  <a:cubicBezTo>
                    <a:pt x="7292721" y="0"/>
                    <a:pt x="7300214" y="7620"/>
                    <a:pt x="7300214" y="16891"/>
                  </a:cubicBezTo>
                  <a:lnTo>
                    <a:pt x="7300214" y="1284859"/>
                  </a:lnTo>
                  <a:cubicBezTo>
                    <a:pt x="7300214" y="1294257"/>
                    <a:pt x="7292594" y="1301750"/>
                    <a:pt x="728332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283323" y="1267968"/>
                  </a:lnTo>
                  <a:lnTo>
                    <a:pt x="7283323" y="1284859"/>
                  </a:lnTo>
                  <a:lnTo>
                    <a:pt x="7266432" y="1284859"/>
                  </a:lnTo>
                  <a:lnTo>
                    <a:pt x="7266432" y="16891"/>
                  </a:lnTo>
                  <a:lnTo>
                    <a:pt x="7283323" y="16891"/>
                  </a:lnTo>
                  <a:lnTo>
                    <a:pt x="7283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454128" y="5815584"/>
            <a:ext cx="5084064" cy="950976"/>
            <a:chOff x="0" y="0"/>
            <a:chExt cx="6778752" cy="12679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787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70" r="0" b="-5417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7787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📲  SMS Alert Systems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582144" y="6874383"/>
            <a:ext cx="4828032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B2D22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SMS-based alerts in local languages for farmers without smartphones in remote areas.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2801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Research &amp; Technical Resources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218439"/>
            <a:ext cx="17033243" cy="665483"/>
            <a:chOff x="0" y="0"/>
            <a:chExt cx="22710991" cy="887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267712"/>
            <a:ext cx="16642080" cy="548640"/>
            <a:chOff x="0" y="0"/>
            <a:chExt cx="221894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Binson V.A., Manju G. – 'Automated Disease Detection in Silkworms Using ML' – ResearchGate, Oct. 2024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2931671"/>
            <a:ext cx="17033243" cy="665483"/>
            <a:chOff x="0" y="0"/>
            <a:chExt cx="22710991" cy="887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2980944"/>
            <a:ext cx="16642080" cy="548640"/>
            <a:chOff x="0" y="0"/>
            <a:chExt cx="221894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Md. Manowarul Islam et al. – 'Deep Learning for Cotton Disease Prediction Using Fine-Tuning' – IEEE, 2024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7383" y="3644903"/>
            <a:ext cx="17033243" cy="665483"/>
            <a:chOff x="0" y="0"/>
            <a:chExt cx="22710991" cy="887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3694176"/>
            <a:ext cx="16642080" cy="548640"/>
            <a:chOff x="0" y="0"/>
            <a:chExt cx="221894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[3] Gul Munir et al. – 'Deep Learning-Based Multi-Crop Disease Detection System' – IEEE, 2024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7383" y="4358135"/>
            <a:ext cx="17033243" cy="665483"/>
            <a:chOff x="0" y="0"/>
            <a:chExt cx="22710991" cy="8873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407408"/>
            <a:ext cx="16642080" cy="548640"/>
            <a:chOff x="0" y="0"/>
            <a:chExt cx="221894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[4] W.Q. Li et al. – 'Enhanced Pest &amp; Disease Detection in Agriculture Using Deep Learning-Enabled Drones' – 2024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7383" y="5071367"/>
            <a:ext cx="17033243" cy="665483"/>
            <a:chOff x="0" y="0"/>
            <a:chExt cx="22710991" cy="887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5120640"/>
            <a:ext cx="16642080" cy="548640"/>
            <a:chOff x="0" y="0"/>
            <a:chExt cx="221894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[5] J.K. Patel, M.S. Reddy, L.K. Sharma – 'Deep Learning-Based Pest Recognition System for Sericulture' – 2024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7383" y="5784599"/>
            <a:ext cx="17033243" cy="665483"/>
            <a:chOff x="0" y="0"/>
            <a:chExt cx="22710991" cy="8873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5833872"/>
            <a:ext cx="16642080" cy="548640"/>
            <a:chOff x="0" y="0"/>
            <a:chExt cx="221894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[6] S.L. Nguyen, T.H. Tran, Q.V. Pham – 'Climate-Aware Cocoon Quality Optimization Using Deep Learning' – 2024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7383" y="6497831"/>
            <a:ext cx="17033243" cy="665483"/>
            <a:chOff x="0" y="0"/>
            <a:chExt cx="22710991" cy="887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6547104"/>
            <a:ext cx="16642080" cy="548640"/>
            <a:chOff x="0" y="0"/>
            <a:chExt cx="221894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[7] H. He et al. – 'Integrated Analysis of ML and DL in Silkworm Pupae Species &amp; Sex Identification' – Animals, 2023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27383" y="7211063"/>
            <a:ext cx="17033243" cy="665483"/>
            <a:chOff x="0" y="0"/>
            <a:chExt cx="22710991" cy="8873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7260336"/>
            <a:ext cx="16642080" cy="548640"/>
            <a:chOff x="0" y="0"/>
            <a:chExt cx="221894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[8] H. He et al. – 'Development of Deep &amp; ML Convolutional Networks for Disease Detection in Agriculture' – 2025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7383" y="7924295"/>
            <a:ext cx="17033243" cy="665483"/>
            <a:chOff x="0" y="0"/>
            <a:chExt cx="22710991" cy="887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F7F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7973568"/>
            <a:ext cx="16642080" cy="548640"/>
            <a:chOff x="0" y="0"/>
            <a:chExt cx="221894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[9] H. He et al. – 'Explainable Deep Learning Model for Mulberry Leaf Disease Identification' – Frontiers, 2023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27383" y="8637527"/>
            <a:ext cx="17033243" cy="665483"/>
            <a:chOff x="0" y="0"/>
            <a:chExt cx="22710991" cy="8873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2677119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710902" cy="887224"/>
            </a:xfrm>
            <a:custGeom>
              <a:avLst/>
              <a:gdLst/>
              <a:ahLst/>
              <a:cxnLst/>
              <a:rect r="r" b="b" t="t" l="l"/>
              <a:pathLst>
                <a:path h="88722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870331"/>
                  </a:lnTo>
                  <a:cubicBezTo>
                    <a:pt x="22710902" y="879729"/>
                    <a:pt x="22703282" y="887222"/>
                    <a:pt x="2269401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694010" y="853440"/>
                  </a:lnTo>
                  <a:lnTo>
                    <a:pt x="22694010" y="870331"/>
                  </a:lnTo>
                  <a:lnTo>
                    <a:pt x="22677120" y="8703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EE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8686800"/>
            <a:ext cx="16642080" cy="548640"/>
            <a:chOff x="0" y="0"/>
            <a:chExt cx="2218944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D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[10] H. He et al. – 'IoT, ML and AI for Disease Forecasting Amidst Climate Change' – Precision Agriculture, 2024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946119" y="-12697"/>
            <a:ext cx="354587" cy="10312403"/>
            <a:chOff x="0" y="0"/>
            <a:chExt cx="47278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645920"/>
            <a:ext cx="16459200" cy="2560320"/>
            <a:chOff x="0" y="0"/>
            <a:chExt cx="21945600" cy="341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47650"/>
              <a:ext cx="21945600" cy="3661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44903" y="4412999"/>
            <a:ext cx="10998203" cy="98555"/>
            <a:chOff x="0" y="0"/>
            <a:chExt cx="14664271" cy="1314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399" cy="97536"/>
            </a:xfrm>
            <a:custGeom>
              <a:avLst/>
              <a:gdLst/>
              <a:ahLst/>
              <a:cxnLst/>
              <a:rect r="r" b="b" t="t" l="l"/>
              <a:pathLst>
                <a:path h="97536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64182" cy="131320"/>
            </a:xfrm>
            <a:custGeom>
              <a:avLst/>
              <a:gdLst/>
              <a:ahLst/>
              <a:cxnLst/>
              <a:rect r="r" b="b" t="t" l="l"/>
              <a:pathLst>
                <a:path h="131320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14427"/>
                  </a:lnTo>
                  <a:cubicBezTo>
                    <a:pt x="14664182" y="123825"/>
                    <a:pt x="14656563" y="131318"/>
                    <a:pt x="146472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4647290" y="97536"/>
                  </a:lnTo>
                  <a:lnTo>
                    <a:pt x="14647290" y="114427"/>
                  </a:lnTo>
                  <a:lnTo>
                    <a:pt x="14630400" y="114427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4663440"/>
            <a:ext cx="16459200" cy="950976"/>
            <a:chOff x="0" y="0"/>
            <a:chExt cx="21945600" cy="12679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1945600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Silkworm Disease Detection Using AI &amp; Machine Learning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5888736"/>
            <a:ext cx="16459200" cy="2080803"/>
            <a:chOff x="0" y="0"/>
            <a:chExt cx="21945600" cy="27744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774404"/>
            </a:xfrm>
            <a:custGeom>
              <a:avLst/>
              <a:gdLst/>
              <a:ahLst/>
              <a:cxnLst/>
              <a:rect r="r" b="b" t="t" l="l"/>
              <a:pathLst>
                <a:path h="27744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74404"/>
                  </a:lnTo>
                  <a:lnTo>
                    <a:pt x="0" y="2774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66" r="0" b="-1015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945600" cy="2831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DIKSHA [AMB2065]  l  MANASA M [AMB2130|  MAHESH PATIL [AMB2124]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IV Year B.Sc (Hons.) Agriculture  |  COA, UAS, GKVK, Bengaluru-65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Guided by: Dr. D R Kumar Raja  |  Academic Year: 2025–2026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8138160"/>
            <a:ext cx="14630400" cy="694944"/>
            <a:chOff x="0" y="0"/>
            <a:chExt cx="195072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50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6B7D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"The silkworm spins out his life, and, wrapping himself in his labor, dies."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A3C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C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760" y="9802368"/>
            <a:ext cx="14630400" cy="457200"/>
            <a:chOff x="0" y="0"/>
            <a:chExt cx="195072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Silkworm Disease Detection Using AI &amp; ML  |  16 April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007840" y="9802368"/>
            <a:ext cx="1097280" cy="457200"/>
            <a:chOff x="0" y="0"/>
            <a:chExt cx="146304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DAHG-ngwWp0</dc:identifier>
  <dcterms:modified xsi:type="dcterms:W3CDTF">2011-08-01T06:04:30Z</dcterms:modified>
  <cp:revision>1</cp:revision>
  <dc:title>Silkworm Disease detection..pptx</dc:title>
</cp:coreProperties>
</file>